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53" y="2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81926-9B84-424B-B246-FCAABBED655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95196-2D5B-4591-9F21-FB7119373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46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95196-2D5B-4591-9F21-FB7119373D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808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808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808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0808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97225" y="656758"/>
            <a:ext cx="7480934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08080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77600"/>
            <a:chOff x="0" y="0"/>
            <a:chExt cx="20104100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770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2136" y="3921826"/>
              <a:ext cx="676427" cy="130724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1676693" y="4657248"/>
            <a:ext cx="4034154" cy="1580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8260" algn="ctr">
              <a:lnSpc>
                <a:spcPct val="100000"/>
              </a:lnSpc>
              <a:spcBef>
                <a:spcPts val="135"/>
              </a:spcBef>
              <a:tabLst>
                <a:tab pos="897890" algn="l"/>
              </a:tabLst>
            </a:pPr>
            <a:r>
              <a:rPr sz="3250" spc="-50" dirty="0">
                <a:solidFill>
                  <a:srgbClr val="034D7E"/>
                </a:solidFill>
                <a:latin typeface="Times New Roman"/>
                <a:cs typeface="Times New Roman"/>
              </a:rPr>
              <a:t>I</a:t>
            </a:r>
            <a:r>
              <a:rPr sz="3250" dirty="0">
                <a:solidFill>
                  <a:srgbClr val="034D7E"/>
                </a:solidFill>
                <a:latin typeface="Times New Roman"/>
                <a:cs typeface="Times New Roman"/>
              </a:rPr>
              <a:t>	</a:t>
            </a:r>
            <a:r>
              <a:rPr sz="3250" spc="-50" dirty="0">
                <a:solidFill>
                  <a:srgbClr val="034D7E"/>
                </a:solidFill>
                <a:latin typeface="Times New Roman"/>
                <a:cs typeface="Times New Roman"/>
              </a:rPr>
              <a:t>I</a:t>
            </a:r>
            <a:endParaRPr sz="3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3850" b="1" spc="75" dirty="0">
                <a:solidFill>
                  <a:srgbClr val="034D7E"/>
                </a:solidFill>
                <a:latin typeface="Times New Roman"/>
                <a:cs typeface="Times New Roman"/>
              </a:rPr>
              <a:t>Machine</a:t>
            </a:r>
            <a:r>
              <a:rPr sz="3850" b="1" spc="4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3850" b="1" spc="-10" dirty="0">
                <a:solidFill>
                  <a:srgbClr val="034D7E"/>
                </a:solidFill>
                <a:latin typeface="Times New Roman"/>
                <a:cs typeface="Times New Roman"/>
              </a:rPr>
              <a:t>Learning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4803" y="6766557"/>
            <a:ext cx="4765040" cy="163004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6835" marR="5080" indent="-64769">
              <a:lnSpc>
                <a:spcPct val="107700"/>
              </a:lnSpc>
              <a:spcBef>
                <a:spcPts val="40"/>
              </a:spcBef>
              <a:tabLst>
                <a:tab pos="2343150" algn="l"/>
              </a:tabLst>
            </a:pPr>
            <a:r>
              <a:rPr sz="2050" spc="-150" dirty="0">
                <a:solidFill>
                  <a:srgbClr val="3D4249"/>
                </a:solidFill>
                <a:latin typeface="Arial"/>
                <a:cs typeface="Arial"/>
              </a:rPr>
              <a:t>LTnh</a:t>
            </a:r>
            <a:r>
              <a:rPr sz="2050" spc="10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1450" spc="105" dirty="0">
                <a:solidFill>
                  <a:srgbClr val="3D4249"/>
                </a:solidFill>
                <a:latin typeface="Arial"/>
                <a:cs typeface="Arial"/>
              </a:rPr>
              <a:t>Vl)'C</a:t>
            </a:r>
            <a:r>
              <a:rPr sz="1450" spc="18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3D4249"/>
                </a:solidFill>
                <a:latin typeface="Arial"/>
                <a:cs typeface="Arial"/>
              </a:rPr>
              <a:t>nghien</a:t>
            </a:r>
            <a:r>
              <a:rPr sz="2050" spc="4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1450" spc="65" dirty="0">
                <a:solidFill>
                  <a:srgbClr val="3D4249"/>
                </a:solidFill>
                <a:latin typeface="Arial"/>
                <a:cs typeface="Arial"/>
              </a:rPr>
              <a:t>CLl'U</a:t>
            </a:r>
            <a:r>
              <a:rPr sz="1450" spc="25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3D4249"/>
                </a:solidFill>
                <a:latin typeface="Arial"/>
                <a:cs typeface="Arial"/>
              </a:rPr>
              <a:t>giup</a:t>
            </a:r>
            <a:r>
              <a:rPr sz="2050" spc="8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75" dirty="0">
                <a:solidFill>
                  <a:srgbClr val="3D4249"/>
                </a:solidFill>
                <a:latin typeface="Arial"/>
                <a:cs typeface="Arial"/>
              </a:rPr>
              <a:t>may</a:t>
            </a:r>
            <a:r>
              <a:rPr sz="2050" spc="-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45" dirty="0">
                <a:solidFill>
                  <a:srgbClr val="3D4249"/>
                </a:solidFill>
                <a:latin typeface="Arial"/>
                <a:cs typeface="Arial"/>
              </a:rPr>
              <a:t>tinh</a:t>
            </a:r>
            <a:r>
              <a:rPr sz="2050" spc="-2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65" dirty="0">
                <a:solidFill>
                  <a:srgbClr val="3D4249"/>
                </a:solidFill>
                <a:latin typeface="Arial"/>
                <a:cs typeface="Arial"/>
              </a:rPr>
              <a:t>c6 </a:t>
            </a:r>
            <a:r>
              <a:rPr sz="2050" spc="195" dirty="0">
                <a:solidFill>
                  <a:srgbClr val="3D4249"/>
                </a:solidFill>
                <a:latin typeface="Arial"/>
                <a:cs typeface="Arial"/>
              </a:rPr>
              <a:t>kha</a:t>
            </a:r>
            <a:r>
              <a:rPr sz="2050" spc="-32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3D4249"/>
                </a:solidFill>
                <a:latin typeface="Arial"/>
                <a:cs typeface="Arial"/>
              </a:rPr>
              <a:t>nang</a:t>
            </a:r>
            <a:r>
              <a:rPr sz="2050" spc="-8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"hoc"</a:t>
            </a:r>
            <a:r>
              <a:rPr sz="2050" spc="14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3D4249"/>
                </a:solidFill>
                <a:latin typeface="Arial"/>
                <a:cs typeface="Arial"/>
              </a:rPr>
              <a:t>tl!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	</a:t>
            </a:r>
            <a:r>
              <a:rPr sz="2050" spc="110" dirty="0">
                <a:solidFill>
                  <a:srgbClr val="3D4249"/>
                </a:solidFill>
                <a:latin typeface="Arial"/>
                <a:cs typeface="Arial"/>
              </a:rPr>
              <a:t>dong</a:t>
            </a:r>
            <a:r>
              <a:rPr sz="2050" spc="-19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750" i="1" dirty="0">
                <a:solidFill>
                  <a:srgbClr val="3D4249"/>
                </a:solidFill>
                <a:latin typeface="Arial"/>
                <a:cs typeface="Arial"/>
              </a:rPr>
              <a:t>tu</a:t>
            </a:r>
            <a:r>
              <a:rPr sz="2750" i="1" spc="-16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750" i="1" spc="-145" dirty="0">
                <a:solidFill>
                  <a:srgbClr val="3D4249"/>
                </a:solidFill>
                <a:latin typeface="Arial"/>
                <a:cs typeface="Arial"/>
              </a:rPr>
              <a:t>du</a:t>
            </a:r>
            <a:r>
              <a:rPr sz="2750" i="1" spc="-6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40" dirty="0">
                <a:solidFill>
                  <a:srgbClr val="4F3441"/>
                </a:solidFill>
                <a:latin typeface="Arial"/>
                <a:cs typeface="Arial"/>
              </a:rPr>
              <a:t>li</a:t>
            </a:r>
            <a:r>
              <a:rPr sz="2050" spc="190" dirty="0">
                <a:solidFill>
                  <a:srgbClr val="4F3441"/>
                </a:solidFill>
                <a:latin typeface="Arial"/>
                <a:cs typeface="Arial"/>
              </a:rPr>
              <a:t> </a:t>
            </a:r>
            <a:r>
              <a:rPr sz="2050" spc="360" dirty="0">
                <a:solidFill>
                  <a:srgbClr val="4F3441"/>
                </a:solidFill>
                <a:latin typeface="Arial"/>
                <a:cs typeface="Arial"/>
              </a:rPr>
              <a:t>u</a:t>
            </a:r>
            <a:r>
              <a:rPr sz="2050" spc="-5" dirty="0">
                <a:solidFill>
                  <a:srgbClr val="4F3441"/>
                </a:solidFill>
                <a:latin typeface="Arial"/>
                <a:cs typeface="Arial"/>
              </a:rPr>
              <a:t> </a:t>
            </a:r>
            <a:r>
              <a:rPr sz="2050" spc="330" dirty="0">
                <a:solidFill>
                  <a:srgbClr val="3D4249"/>
                </a:solidFill>
                <a:latin typeface="Arial"/>
                <a:cs typeface="Arial"/>
              </a:rPr>
              <a:t>de</a:t>
            </a:r>
            <a:endParaRPr sz="2050">
              <a:latin typeface="Arial"/>
              <a:cs typeface="Arial"/>
            </a:endParaRPr>
          </a:p>
          <a:p>
            <a:pPr marL="585470" marR="243204" indent="-429259">
              <a:lnSpc>
                <a:spcPts val="3350"/>
              </a:lnSpc>
            </a:pP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giai</a:t>
            </a:r>
            <a:r>
              <a:rPr sz="2050" spc="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05" dirty="0">
                <a:solidFill>
                  <a:srgbClr val="3D4249"/>
                </a:solidFill>
                <a:latin typeface="Arial"/>
                <a:cs typeface="Arial"/>
              </a:rPr>
              <a:t>quyet</a:t>
            </a:r>
            <a:r>
              <a:rPr sz="2050" spc="16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van</a:t>
            </a:r>
            <a:r>
              <a:rPr sz="2050" spc="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de</a:t>
            </a:r>
            <a:r>
              <a:rPr sz="2050" spc="13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ma</a:t>
            </a:r>
            <a:r>
              <a:rPr sz="2050" spc="-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khong</a:t>
            </a:r>
            <a:r>
              <a:rPr sz="2050" spc="-6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can</a:t>
            </a:r>
            <a:r>
              <a:rPr sz="2050" spc="14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l</a:t>
            </a:r>
            <a:r>
              <a:rPr sz="2050" spc="7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40" dirty="0">
                <a:solidFill>
                  <a:srgbClr val="3D4249"/>
                </a:solidFill>
                <a:latin typeface="Arial"/>
                <a:cs typeface="Arial"/>
              </a:rPr>
              <a:t>p </a:t>
            </a:r>
            <a:r>
              <a:rPr sz="2050" spc="125" dirty="0">
                <a:solidFill>
                  <a:srgbClr val="3D4249"/>
                </a:solidFill>
                <a:latin typeface="Arial"/>
                <a:cs typeface="Arial"/>
              </a:rPr>
              <a:t>trinh</a:t>
            </a:r>
            <a:r>
              <a:rPr sz="2050" spc="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1550" spc="100" dirty="0">
                <a:solidFill>
                  <a:srgbClr val="3D4249"/>
                </a:solidFill>
                <a:latin typeface="Times New Roman"/>
                <a:cs typeface="Times New Roman"/>
              </a:rPr>
              <a:t>Cl)</a:t>
            </a:r>
            <a:r>
              <a:rPr sz="1550" spc="30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2050" spc="145" dirty="0">
                <a:solidFill>
                  <a:srgbClr val="3D4249"/>
                </a:solidFill>
                <a:latin typeface="Arial"/>
                <a:cs typeface="Arial"/>
              </a:rPr>
              <a:t>the</a:t>
            </a:r>
            <a:r>
              <a:rPr sz="2050" spc="-3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75" dirty="0">
                <a:solidFill>
                  <a:srgbClr val="3D4249"/>
                </a:solidFill>
                <a:latin typeface="Arial"/>
                <a:cs typeface="Arial"/>
              </a:rPr>
              <a:t>cho</a:t>
            </a:r>
            <a:r>
              <a:rPr sz="2050" spc="-4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85" dirty="0">
                <a:solidFill>
                  <a:srgbClr val="3D4249"/>
                </a:solidFill>
                <a:latin typeface="Arial"/>
                <a:cs typeface="Arial"/>
              </a:rPr>
              <a:t>tung</a:t>
            </a:r>
            <a:r>
              <a:rPr sz="2050" spc="-13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65" dirty="0">
                <a:solidFill>
                  <a:srgbClr val="3D4249"/>
                </a:solidFill>
                <a:latin typeface="Arial"/>
                <a:cs typeface="Arial"/>
              </a:rPr>
              <a:t>tac</a:t>
            </a:r>
            <a:r>
              <a:rPr sz="2050" spc="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1550" spc="45" dirty="0">
                <a:solidFill>
                  <a:srgbClr val="3D4249"/>
                </a:solidFill>
                <a:latin typeface="Times New Roman"/>
                <a:cs typeface="Times New Roman"/>
              </a:rPr>
              <a:t>Vl)</a:t>
            </a:r>
            <a:r>
              <a:rPr sz="1550" spc="45" dirty="0">
                <a:solidFill>
                  <a:srgbClr val="56565B"/>
                </a:solidFill>
                <a:latin typeface="Times New Roman"/>
                <a:cs typeface="Times New Roman"/>
              </a:rPr>
              <a:t>.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44168" y="5625871"/>
            <a:ext cx="3213100" cy="611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850" b="1" spc="55" dirty="0">
                <a:solidFill>
                  <a:srgbClr val="034D7E"/>
                </a:solidFill>
                <a:latin typeface="Times New Roman"/>
                <a:cs typeface="Times New Roman"/>
              </a:rPr>
              <a:t>Deep</a:t>
            </a:r>
            <a:r>
              <a:rPr sz="3850" b="1" spc="-80" dirty="0">
                <a:solidFill>
                  <a:srgbClr val="034D7E"/>
                </a:solidFill>
                <a:latin typeface="Times New Roman"/>
                <a:cs typeface="Times New Roman"/>
              </a:rPr>
              <a:t> </a:t>
            </a:r>
            <a:r>
              <a:rPr sz="3850" b="1" spc="-10" dirty="0">
                <a:solidFill>
                  <a:srgbClr val="034D7E"/>
                </a:solidFill>
                <a:latin typeface="Times New Roman"/>
                <a:cs typeface="Times New Roman"/>
              </a:rPr>
              <a:t>Learning</a:t>
            </a:r>
            <a:endParaRPr sz="3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5370" y="6670093"/>
            <a:ext cx="4911090" cy="1718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8255" algn="ctr">
              <a:lnSpc>
                <a:spcPct val="136100"/>
              </a:lnSpc>
              <a:spcBef>
                <a:spcPts val="100"/>
              </a:spcBef>
            </a:pP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Nhanh</a:t>
            </a:r>
            <a:r>
              <a:rPr sz="2050" spc="114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cua</a:t>
            </a:r>
            <a:r>
              <a:rPr sz="2050" spc="2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ML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su</a:t>
            </a:r>
            <a:r>
              <a:rPr sz="2050" spc="46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-254" dirty="0">
                <a:solidFill>
                  <a:srgbClr val="3D4249"/>
                </a:solidFill>
                <a:latin typeface="Arial"/>
                <a:cs typeface="Arial"/>
              </a:rPr>
              <a:t>dt=1ng</a:t>
            </a:r>
            <a:r>
              <a:rPr sz="2050" spc="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-95" dirty="0">
                <a:solidFill>
                  <a:srgbClr val="3D4249"/>
                </a:solidFill>
                <a:latin typeface="Arial"/>
                <a:cs typeface="Arial"/>
              </a:rPr>
              <a:t>mc;lng</a:t>
            </a:r>
            <a:r>
              <a:rPr sz="2050" spc="-5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70" dirty="0">
                <a:solidFill>
                  <a:srgbClr val="3D4249"/>
                </a:solidFill>
                <a:latin typeface="Arial"/>
                <a:cs typeface="Arial"/>
              </a:rPr>
              <a:t>na-</a:t>
            </a:r>
            <a:r>
              <a:rPr sz="2050" spc="145" dirty="0">
                <a:solidFill>
                  <a:srgbClr val="3D4249"/>
                </a:solidFill>
                <a:latin typeface="Arial"/>
                <a:cs typeface="Arial"/>
              </a:rPr>
              <a:t>ron </a:t>
            </a:r>
            <a:r>
              <a:rPr sz="2050" spc="200" dirty="0">
                <a:solidFill>
                  <a:srgbClr val="3D4249"/>
                </a:solidFill>
                <a:latin typeface="Arial"/>
                <a:cs typeface="Arial"/>
              </a:rPr>
              <a:t>da</a:t>
            </a:r>
            <a:r>
              <a:rPr sz="2050" spc="-19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70" dirty="0">
                <a:solidFill>
                  <a:srgbClr val="3D4249"/>
                </a:solidFill>
                <a:latin typeface="Arial"/>
                <a:cs typeface="Arial"/>
              </a:rPr>
              <a:t>l&amp;p</a:t>
            </a:r>
            <a:r>
              <a:rPr sz="2050" spc="-24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(ANN)</a:t>
            </a:r>
            <a:r>
              <a:rPr sz="2050" spc="3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mo</a:t>
            </a:r>
            <a:r>
              <a:rPr sz="2050" spc="25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95" dirty="0">
                <a:solidFill>
                  <a:srgbClr val="3D4249"/>
                </a:solidFill>
                <a:latin typeface="Arial"/>
                <a:cs typeface="Arial"/>
              </a:rPr>
              <a:t>ph6ng</a:t>
            </a:r>
            <a:r>
              <a:rPr sz="2050" spc="-8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3D4249"/>
                </a:solidFill>
                <a:latin typeface="Arial"/>
                <a:cs typeface="Arial"/>
              </a:rPr>
              <a:t>nao</a:t>
            </a:r>
            <a:r>
              <a:rPr sz="2050" spc="-5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ngU'ai</a:t>
            </a:r>
            <a:r>
              <a:rPr sz="2050" spc="6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3D4249"/>
                </a:solidFill>
                <a:latin typeface="Arial"/>
                <a:cs typeface="Arial"/>
              </a:rPr>
              <a:t>de</a:t>
            </a:r>
            <a:endParaRPr sz="2050">
              <a:latin typeface="Arial"/>
              <a:cs typeface="Arial"/>
            </a:endParaRPr>
          </a:p>
          <a:p>
            <a:pPr marL="12065" marR="5080" algn="ctr">
              <a:lnSpc>
                <a:spcPts val="3290"/>
              </a:lnSpc>
              <a:spcBef>
                <a:spcPts val="155"/>
              </a:spcBef>
              <a:tabLst>
                <a:tab pos="1645285" algn="l"/>
              </a:tabLst>
            </a:pPr>
            <a:r>
              <a:rPr sz="2050" spc="70" dirty="0">
                <a:solidFill>
                  <a:srgbClr val="3D4249"/>
                </a:solidFill>
                <a:latin typeface="Arial"/>
                <a:cs typeface="Arial"/>
              </a:rPr>
              <a:t>hoc</a:t>
            </a:r>
            <a:r>
              <a:rPr sz="2050" spc="14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70" dirty="0">
                <a:solidFill>
                  <a:srgbClr val="3D4249"/>
                </a:solidFill>
                <a:latin typeface="Arial"/>
                <a:cs typeface="Arial"/>
              </a:rPr>
              <a:t>cac</a:t>
            </a:r>
            <a:r>
              <a:rPr sz="2050" spc="229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75" dirty="0">
                <a:solidFill>
                  <a:srgbClr val="3D4249"/>
                </a:solidFill>
                <a:latin typeface="Arial"/>
                <a:cs typeface="Arial"/>
              </a:rPr>
              <a:t>d</a:t>
            </a:r>
            <a:r>
              <a:rPr sz="2050" spc="4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20" dirty="0">
                <a:solidFill>
                  <a:srgbClr val="3D4249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	</a:t>
            </a:r>
            <a:r>
              <a:rPr sz="2050" spc="-30" dirty="0">
                <a:solidFill>
                  <a:srgbClr val="3D4249"/>
                </a:solidFill>
                <a:latin typeface="Arial"/>
                <a:cs typeface="Arial"/>
              </a:rPr>
              <a:t>trLI'ng</a:t>
            </a:r>
            <a:r>
              <a:rPr sz="2050" spc="-6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70" dirty="0">
                <a:solidFill>
                  <a:srgbClr val="3D4249"/>
                </a:solidFill>
                <a:latin typeface="Arial"/>
                <a:cs typeface="Arial"/>
              </a:rPr>
              <a:t>phuc</a:t>
            </a:r>
            <a:r>
              <a:rPr sz="2050" spc="16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-85" dirty="0">
                <a:solidFill>
                  <a:srgbClr val="3D4249"/>
                </a:solidFill>
                <a:latin typeface="Arial"/>
                <a:cs typeface="Arial"/>
              </a:rPr>
              <a:t>tc;lp</a:t>
            </a:r>
            <a:r>
              <a:rPr sz="2050" spc="3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750" i="1" dirty="0">
                <a:solidFill>
                  <a:srgbClr val="3D4249"/>
                </a:solidFill>
                <a:latin typeface="Arial"/>
                <a:cs typeface="Arial"/>
              </a:rPr>
              <a:t>tu</a:t>
            </a:r>
            <a:r>
              <a:rPr sz="2750" i="1" spc="-17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750" i="1" spc="-150" dirty="0">
                <a:solidFill>
                  <a:srgbClr val="3D4249"/>
                </a:solidFill>
                <a:latin typeface="Arial"/>
                <a:cs typeface="Arial"/>
              </a:rPr>
              <a:t>du</a:t>
            </a:r>
            <a:r>
              <a:rPr sz="2750" i="1" spc="-13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40" dirty="0">
                <a:solidFill>
                  <a:srgbClr val="3D4249"/>
                </a:solidFill>
                <a:latin typeface="Arial"/>
                <a:cs typeface="Arial"/>
              </a:rPr>
              <a:t>li</a:t>
            </a:r>
            <a:r>
              <a:rPr sz="2050" spc="17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310" dirty="0">
                <a:solidFill>
                  <a:srgbClr val="3D4249"/>
                </a:solidFill>
                <a:latin typeface="Arial"/>
                <a:cs typeface="Arial"/>
              </a:rPr>
              <a:t>u </a:t>
            </a:r>
            <a:r>
              <a:rPr sz="2050" spc="-20" dirty="0">
                <a:solidFill>
                  <a:srgbClr val="4F3441"/>
                </a:solidFill>
                <a:latin typeface="Arial"/>
                <a:cs typeface="Arial"/>
              </a:rPr>
              <a:t>l&amp;n.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891212" y="5598309"/>
            <a:ext cx="10121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135" dirty="0">
                <a:solidFill>
                  <a:srgbClr val="034D7E"/>
                </a:solidFill>
                <a:latin typeface="Courier New"/>
                <a:cs typeface="Courier New"/>
              </a:rPr>
              <a:t>CNN</a:t>
            </a:r>
            <a:endParaRPr sz="4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53791" y="6783493"/>
            <a:ext cx="4928870" cy="16135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 marR="5080" indent="-4445" algn="ctr">
              <a:lnSpc>
                <a:spcPct val="86700"/>
              </a:lnSpc>
              <a:spcBef>
                <a:spcPts val="420"/>
              </a:spcBef>
              <a:tabLst>
                <a:tab pos="2789555" algn="l"/>
              </a:tabLst>
            </a:pPr>
            <a:r>
              <a:rPr sz="2050" spc="50" dirty="0">
                <a:solidFill>
                  <a:srgbClr val="3D4249"/>
                </a:solidFill>
                <a:latin typeface="Arial"/>
                <a:cs typeface="Arial"/>
              </a:rPr>
              <a:t>M?ng</a:t>
            </a:r>
            <a:r>
              <a:rPr sz="2050" spc="-15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80" dirty="0">
                <a:solidFill>
                  <a:srgbClr val="3D4249"/>
                </a:solidFill>
                <a:latin typeface="Arial"/>
                <a:cs typeface="Arial"/>
              </a:rPr>
              <a:t>na-ron</a:t>
            </a:r>
            <a:r>
              <a:rPr sz="2050" spc="1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75" dirty="0">
                <a:solidFill>
                  <a:srgbClr val="3D4249"/>
                </a:solidFill>
                <a:latin typeface="Arial"/>
                <a:cs typeface="Arial"/>
              </a:rPr>
              <a:t>tich</a:t>
            </a:r>
            <a:r>
              <a:rPr sz="2050" spc="-3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270" dirty="0">
                <a:solidFill>
                  <a:srgbClr val="3D4249"/>
                </a:solidFill>
                <a:latin typeface="Arial"/>
                <a:cs typeface="Arial"/>
              </a:rPr>
              <a:t>ch</a:t>
            </a:r>
            <a:r>
              <a:rPr sz="2050" spc="15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210" dirty="0">
                <a:solidFill>
                  <a:srgbClr val="3D4249"/>
                </a:solidFill>
                <a:latin typeface="Arial"/>
                <a:cs typeface="Arial"/>
              </a:rPr>
              <a:t>p:</a:t>
            </a:r>
            <a:r>
              <a:rPr sz="2050" spc="-14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Mo</a:t>
            </a:r>
            <a:r>
              <a:rPr sz="2050" spc="-5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3D4249"/>
                </a:solidFill>
                <a:latin typeface="Arial"/>
                <a:cs typeface="Arial"/>
              </a:rPr>
              <a:t>hinh </a:t>
            </a:r>
            <a:r>
              <a:rPr sz="2050" spc="85" dirty="0">
                <a:solidFill>
                  <a:srgbClr val="3D4249"/>
                </a:solidFill>
                <a:latin typeface="Arial"/>
                <a:cs typeface="Arial"/>
              </a:rPr>
              <a:t>chuyen</a:t>
            </a:r>
            <a:r>
              <a:rPr sz="2050" spc="3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345" dirty="0">
                <a:solidFill>
                  <a:srgbClr val="3D4249"/>
                </a:solidFill>
                <a:latin typeface="Arial"/>
                <a:cs typeface="Arial"/>
              </a:rPr>
              <a:t>bi</a:t>
            </a:r>
            <a:r>
              <a:rPr sz="2050" spc="31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250" dirty="0">
                <a:solidFill>
                  <a:srgbClr val="3D4249"/>
                </a:solidFill>
                <a:latin typeface="Arial"/>
                <a:cs typeface="Arial"/>
              </a:rPr>
              <a:t>t</a:t>
            </a:r>
            <a:r>
              <a:rPr sz="2050" spc="9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cho</a:t>
            </a:r>
            <a:r>
              <a:rPr sz="3450" i="1" dirty="0">
                <a:solidFill>
                  <a:srgbClr val="3D4249"/>
                </a:solidFill>
                <a:latin typeface="Times New Roman"/>
                <a:cs typeface="Times New Roman"/>
              </a:rPr>
              <a:t>xu</a:t>
            </a:r>
            <a:r>
              <a:rPr sz="3450" i="1" spc="-215" dirty="0">
                <a:solidFill>
                  <a:srgbClr val="3D4249"/>
                </a:solidFill>
                <a:latin typeface="Times New Roman"/>
                <a:cs typeface="Times New Roman"/>
              </a:rPr>
              <a:t> </a:t>
            </a:r>
            <a:r>
              <a:rPr sz="2050" spc="-25" dirty="0">
                <a:solidFill>
                  <a:srgbClr val="3D4249"/>
                </a:solidFill>
                <a:latin typeface="Arial"/>
                <a:cs typeface="Arial"/>
              </a:rPr>
              <a:t>ly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	anh</a:t>
            </a:r>
            <a:r>
              <a:rPr sz="2050" dirty="0">
                <a:solidFill>
                  <a:srgbClr val="56565B"/>
                </a:solidFill>
                <a:latin typeface="Arial"/>
                <a:cs typeface="Arial"/>
              </a:rPr>
              <a:t>,</a:t>
            </a:r>
            <a:r>
              <a:rPr sz="2050" spc="-120" dirty="0">
                <a:solidFill>
                  <a:srgbClr val="56565B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3D4249"/>
                </a:solidFill>
                <a:latin typeface="Arial"/>
                <a:cs typeface="Arial"/>
              </a:rPr>
              <a:t>c6</a:t>
            </a:r>
            <a:r>
              <a:rPr sz="2050" spc="34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55" dirty="0">
                <a:solidFill>
                  <a:srgbClr val="3D4249"/>
                </a:solidFill>
                <a:latin typeface="Arial"/>
                <a:cs typeface="Arial"/>
              </a:rPr>
              <a:t>kha</a:t>
            </a:r>
            <a:r>
              <a:rPr sz="2050" spc="9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3D4249"/>
                </a:solidFill>
                <a:latin typeface="Arial"/>
                <a:cs typeface="Arial"/>
              </a:rPr>
              <a:t>nang</a:t>
            </a:r>
            <a:endParaRPr sz="205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610"/>
              </a:spcBef>
              <a:tabLst>
                <a:tab pos="368935" algn="l"/>
                <a:tab pos="2914015" algn="l"/>
              </a:tabLst>
            </a:pPr>
            <a:r>
              <a:rPr sz="2050" spc="-25" dirty="0">
                <a:solidFill>
                  <a:srgbClr val="3D4249"/>
                </a:solidFill>
                <a:latin typeface="Arial"/>
                <a:cs typeface="Arial"/>
              </a:rPr>
              <a:t>tl!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	</a:t>
            </a:r>
            <a:r>
              <a:rPr sz="2050" spc="110" dirty="0">
                <a:solidFill>
                  <a:srgbClr val="3D4249"/>
                </a:solidFill>
                <a:latin typeface="Arial"/>
                <a:cs typeface="Arial"/>
              </a:rPr>
              <a:t>dong</a:t>
            </a:r>
            <a:r>
              <a:rPr sz="2050" spc="-13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150" dirty="0">
                <a:solidFill>
                  <a:srgbClr val="3D4249"/>
                </a:solidFill>
                <a:latin typeface="Arial"/>
                <a:cs typeface="Arial"/>
              </a:rPr>
              <a:t>trich</a:t>
            </a:r>
            <a:r>
              <a:rPr sz="2050" spc="-1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3D4249"/>
                </a:solidFill>
                <a:latin typeface="Arial"/>
                <a:cs typeface="Arial"/>
              </a:rPr>
              <a:t>xuat</a:t>
            </a:r>
            <a:r>
              <a:rPr sz="2050" spc="165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75" dirty="0">
                <a:solidFill>
                  <a:srgbClr val="3D4249"/>
                </a:solidFill>
                <a:latin typeface="Arial"/>
                <a:cs typeface="Arial"/>
              </a:rPr>
              <a:t>d</a:t>
            </a:r>
            <a:r>
              <a:rPr sz="2050" spc="5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20" dirty="0">
                <a:solidFill>
                  <a:srgbClr val="3D4249"/>
                </a:solidFill>
                <a:latin typeface="Arial"/>
                <a:cs typeface="Arial"/>
              </a:rPr>
              <a:t>c</a:t>
            </a: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	</a:t>
            </a:r>
            <a:r>
              <a:rPr sz="2050" spc="-30" dirty="0">
                <a:solidFill>
                  <a:srgbClr val="3D4249"/>
                </a:solidFill>
                <a:latin typeface="Arial"/>
                <a:cs typeface="Arial"/>
              </a:rPr>
              <a:t>trLI'ng</a:t>
            </a:r>
            <a:r>
              <a:rPr sz="2050" spc="-9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75" dirty="0">
                <a:solidFill>
                  <a:srgbClr val="3D4249"/>
                </a:solidFill>
                <a:latin typeface="Arial"/>
                <a:cs typeface="Arial"/>
              </a:rPr>
              <a:t>khong</a:t>
            </a:r>
            <a:endParaRPr sz="2050">
              <a:latin typeface="Arial"/>
              <a:cs typeface="Arial"/>
            </a:endParaRPr>
          </a:p>
          <a:p>
            <a:pPr marR="4445" algn="ctr">
              <a:lnSpc>
                <a:spcPct val="100000"/>
              </a:lnSpc>
              <a:spcBef>
                <a:spcPts val="890"/>
              </a:spcBef>
            </a:pPr>
            <a:r>
              <a:rPr sz="2050" dirty="0">
                <a:solidFill>
                  <a:srgbClr val="3D4249"/>
                </a:solidFill>
                <a:latin typeface="Arial"/>
                <a:cs typeface="Arial"/>
              </a:rPr>
              <a:t>gian </a:t>
            </a:r>
            <a:r>
              <a:rPr sz="2050" spc="60" dirty="0">
                <a:solidFill>
                  <a:srgbClr val="3D4249"/>
                </a:solidFill>
                <a:latin typeface="Arial"/>
                <a:cs typeface="Arial"/>
              </a:rPr>
              <a:t>(c?nh</a:t>
            </a:r>
            <a:r>
              <a:rPr sz="2050" spc="60" dirty="0">
                <a:solidFill>
                  <a:srgbClr val="56565B"/>
                </a:solidFill>
                <a:latin typeface="Arial"/>
                <a:cs typeface="Arial"/>
              </a:rPr>
              <a:t>,</a:t>
            </a:r>
            <a:r>
              <a:rPr sz="2050" spc="-95" dirty="0">
                <a:solidFill>
                  <a:srgbClr val="56565B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3D4249"/>
                </a:solidFill>
                <a:latin typeface="Arial"/>
                <a:cs typeface="Arial"/>
              </a:rPr>
              <a:t>g6c</a:t>
            </a:r>
            <a:r>
              <a:rPr sz="2050" spc="60" dirty="0">
                <a:solidFill>
                  <a:srgbClr val="56565B"/>
                </a:solidFill>
                <a:latin typeface="Arial"/>
                <a:cs typeface="Arial"/>
              </a:rPr>
              <a:t>,</a:t>
            </a:r>
            <a:r>
              <a:rPr sz="2050" spc="-105" dirty="0">
                <a:solidFill>
                  <a:srgbClr val="56565B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3D4249"/>
                </a:solidFill>
                <a:latin typeface="Arial"/>
                <a:cs typeface="Arial"/>
              </a:rPr>
              <a:t>hinh</a:t>
            </a:r>
            <a:r>
              <a:rPr sz="2050" spc="70" dirty="0">
                <a:solidFill>
                  <a:srgbClr val="3D4249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3D4249"/>
                </a:solidFill>
                <a:latin typeface="Arial"/>
                <a:cs typeface="Arial"/>
              </a:rPr>
              <a:t>dc;lng).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rcRect r="2779"/>
          <a:stretch>
            <a:fillRect/>
          </a:stretch>
        </p:blipFill>
        <p:spPr>
          <a:xfrm>
            <a:off x="0" y="0"/>
            <a:ext cx="9924270" cy="11277052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0023215" y="741918"/>
            <a:ext cx="9836300" cy="138435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5"/>
              </a:spcBef>
            </a:pPr>
            <a:r>
              <a:rPr lang="en-US" dirty="0"/>
              <a:t>Architecture of Convolutional </a:t>
            </a:r>
            <a:br>
              <a:rPr lang="en-US" dirty="0"/>
            </a:br>
            <a:r>
              <a:rPr lang="en-US" dirty="0"/>
              <a:t>Neural Networks</a:t>
            </a:r>
            <a:endParaRPr spc="490" dirty="0"/>
          </a:p>
        </p:txBody>
      </p:sp>
      <p:pic>
        <p:nvPicPr>
          <p:cNvPr id="40" name="Picture 39" descr="Convolutional Neural Networks là gì? Khám phá cấu trúc của CNN">
            <a:extLst>
              <a:ext uri="{FF2B5EF4-FFF2-40B4-BE49-F238E27FC236}">
                <a16:creationId xmlns:a16="http://schemas.microsoft.com/office/drawing/2014/main" id="{18321341-81E7-14C6-272C-3BAACA577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910" y="2816452"/>
            <a:ext cx="10174189" cy="5711825"/>
          </a:xfrm>
          <a:prstGeom prst="rect">
            <a:avLst/>
          </a:prstGeom>
          <a:noFill/>
          <a:ln>
            <a:solidFill>
              <a:schemeClr val="dk1">
                <a:shade val="95000"/>
                <a:satMod val="105000"/>
              </a:schemeClr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277600"/>
            <a:chOff x="0" y="0"/>
            <a:chExt cx="20104100" cy="11277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27705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9931" y="5985070"/>
              <a:ext cx="487656" cy="78749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3434" y="6158321"/>
              <a:ext cx="1116891" cy="3937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8448" y="6489069"/>
              <a:ext cx="440464" cy="157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92205" y="6898568"/>
              <a:ext cx="267424" cy="2834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388910" y="6008693"/>
              <a:ext cx="849630" cy="0"/>
            </a:xfrm>
            <a:custGeom>
              <a:avLst/>
              <a:gdLst/>
              <a:ahLst/>
              <a:cxnLst/>
              <a:rect l="l" t="t" r="r" b="b"/>
              <a:pathLst>
                <a:path w="849629">
                  <a:moveTo>
                    <a:pt x="550580" y="0"/>
                  </a:moveTo>
                  <a:lnTo>
                    <a:pt x="849466" y="0"/>
                  </a:lnTo>
                </a:path>
                <a:path w="849629">
                  <a:moveTo>
                    <a:pt x="0" y="0"/>
                  </a:moveTo>
                  <a:lnTo>
                    <a:pt x="409002" y="0"/>
                  </a:lnTo>
                </a:path>
              </a:pathLst>
            </a:custGeom>
            <a:ln w="78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59629" y="5985068"/>
              <a:ext cx="118110" cy="0"/>
            </a:xfrm>
            <a:custGeom>
              <a:avLst/>
              <a:gdLst/>
              <a:ahLst/>
              <a:cxnLst/>
              <a:rect l="l" t="t" r="r" b="b"/>
              <a:pathLst>
                <a:path w="118110">
                  <a:moveTo>
                    <a:pt x="0" y="0"/>
                  </a:moveTo>
                  <a:lnTo>
                    <a:pt x="117981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50650" y="5985068"/>
              <a:ext cx="1471295" cy="0"/>
            </a:xfrm>
            <a:custGeom>
              <a:avLst/>
              <a:gdLst/>
              <a:ahLst/>
              <a:cxnLst/>
              <a:rect l="l" t="t" r="r" b="b"/>
              <a:pathLst>
                <a:path w="1471295">
                  <a:moveTo>
                    <a:pt x="0" y="0"/>
                  </a:moveTo>
                  <a:lnTo>
                    <a:pt x="1470835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50650" y="6158318"/>
              <a:ext cx="1471295" cy="0"/>
            </a:xfrm>
            <a:custGeom>
              <a:avLst/>
              <a:gdLst/>
              <a:ahLst/>
              <a:cxnLst/>
              <a:rect l="l" t="t" r="r" b="b"/>
              <a:pathLst>
                <a:path w="1471295">
                  <a:moveTo>
                    <a:pt x="0" y="0"/>
                  </a:moveTo>
                  <a:lnTo>
                    <a:pt x="298886" y="0"/>
                  </a:lnTo>
                </a:path>
                <a:path w="1471295">
                  <a:moveTo>
                    <a:pt x="652830" y="0"/>
                  </a:moveTo>
                  <a:lnTo>
                    <a:pt x="849466" y="0"/>
                  </a:lnTo>
                </a:path>
                <a:path w="1471295">
                  <a:moveTo>
                    <a:pt x="1242738" y="0"/>
                  </a:moveTo>
                  <a:lnTo>
                    <a:pt x="1470835" y="0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50650" y="6276443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0" y="0"/>
                  </a:moveTo>
                  <a:lnTo>
                    <a:pt x="298886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21392" y="6276443"/>
              <a:ext cx="2800350" cy="937260"/>
            </a:xfrm>
            <a:custGeom>
              <a:avLst/>
              <a:gdLst/>
              <a:ahLst/>
              <a:cxnLst/>
              <a:rect l="l" t="t" r="r" b="b"/>
              <a:pathLst>
                <a:path w="2800350" h="937259">
                  <a:moveTo>
                    <a:pt x="1982088" y="0"/>
                  </a:moveTo>
                  <a:lnTo>
                    <a:pt x="2178724" y="0"/>
                  </a:lnTo>
                </a:path>
                <a:path w="2800350" h="937259">
                  <a:moveTo>
                    <a:pt x="2571995" y="0"/>
                  </a:moveTo>
                  <a:lnTo>
                    <a:pt x="2800093" y="0"/>
                  </a:lnTo>
                </a:path>
                <a:path w="2800350" h="937259">
                  <a:moveTo>
                    <a:pt x="0" y="937122"/>
                  </a:moveTo>
                  <a:lnTo>
                    <a:pt x="0" y="0"/>
                  </a:lnTo>
                </a:path>
                <a:path w="2800350" h="937259">
                  <a:moveTo>
                    <a:pt x="605638" y="165374"/>
                  </a:moveTo>
                  <a:lnTo>
                    <a:pt x="605638" y="0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88887" y="6441817"/>
              <a:ext cx="205104" cy="0"/>
            </a:xfrm>
            <a:custGeom>
              <a:avLst/>
              <a:gdLst/>
              <a:ahLst/>
              <a:cxnLst/>
              <a:rect l="l" t="t" r="r" b="b"/>
              <a:pathLst>
                <a:path w="205104">
                  <a:moveTo>
                    <a:pt x="0" y="0"/>
                  </a:moveTo>
                  <a:lnTo>
                    <a:pt x="204501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12506" y="6441817"/>
              <a:ext cx="243840" cy="0"/>
            </a:xfrm>
            <a:custGeom>
              <a:avLst/>
              <a:gdLst/>
              <a:ahLst/>
              <a:cxnLst/>
              <a:rect l="l" t="t" r="r" b="b"/>
              <a:pathLst>
                <a:path w="243839">
                  <a:moveTo>
                    <a:pt x="0" y="0"/>
                  </a:moveTo>
                  <a:lnTo>
                    <a:pt x="243828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27030" y="6441817"/>
              <a:ext cx="2423160" cy="772160"/>
            </a:xfrm>
            <a:custGeom>
              <a:avLst/>
              <a:gdLst/>
              <a:ahLst/>
              <a:cxnLst/>
              <a:rect l="l" t="t" r="r" b="b"/>
              <a:pathLst>
                <a:path w="2423160" h="772159">
                  <a:moveTo>
                    <a:pt x="0" y="771748"/>
                  </a:moveTo>
                  <a:lnTo>
                    <a:pt x="0" y="0"/>
                  </a:lnTo>
                </a:path>
                <a:path w="2423160" h="772159">
                  <a:moveTo>
                    <a:pt x="723619" y="440998"/>
                  </a:moveTo>
                  <a:lnTo>
                    <a:pt x="723619" y="0"/>
                  </a:lnTo>
                </a:path>
                <a:path w="2423160" h="772159">
                  <a:moveTo>
                    <a:pt x="1211276" y="440998"/>
                  </a:moveTo>
                  <a:lnTo>
                    <a:pt x="1211276" y="0"/>
                  </a:lnTo>
                </a:path>
                <a:path w="2423160" h="772159">
                  <a:moveTo>
                    <a:pt x="1761856" y="440998"/>
                  </a:moveTo>
                  <a:lnTo>
                    <a:pt x="1761856" y="0"/>
                  </a:lnTo>
                </a:path>
                <a:path w="2423160" h="772159">
                  <a:moveTo>
                    <a:pt x="2422552" y="440998"/>
                  </a:moveTo>
                  <a:lnTo>
                    <a:pt x="2422552" y="0"/>
                  </a:lnTo>
                </a:path>
                <a:path w="2423160" h="772159">
                  <a:moveTo>
                    <a:pt x="1746125" y="440998"/>
                  </a:moveTo>
                  <a:lnTo>
                    <a:pt x="1966357" y="440998"/>
                  </a:lnTo>
                </a:path>
              </a:pathLst>
            </a:custGeom>
            <a:ln w="23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93388" y="6882816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097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33852" y="6882816"/>
              <a:ext cx="322580" cy="0"/>
            </a:xfrm>
            <a:custGeom>
              <a:avLst/>
              <a:gdLst/>
              <a:ahLst/>
              <a:cxnLst/>
              <a:rect l="l" t="t" r="r" b="b"/>
              <a:pathLst>
                <a:path w="322579">
                  <a:moveTo>
                    <a:pt x="0" y="0"/>
                  </a:moveTo>
                  <a:lnTo>
                    <a:pt x="322482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9165" y="7213565"/>
              <a:ext cx="212725" cy="0"/>
            </a:xfrm>
            <a:custGeom>
              <a:avLst/>
              <a:gdLst/>
              <a:ahLst/>
              <a:cxnLst/>
              <a:rect l="l" t="t" r="r" b="b"/>
              <a:pathLst>
                <a:path w="212725">
                  <a:moveTo>
                    <a:pt x="0" y="0"/>
                  </a:moveTo>
                  <a:lnTo>
                    <a:pt x="212366" y="0"/>
                  </a:lnTo>
                </a:path>
              </a:pathLst>
            </a:custGeom>
            <a:ln w="7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26127" y="5969318"/>
              <a:ext cx="723900" cy="0"/>
            </a:xfrm>
            <a:custGeom>
              <a:avLst/>
              <a:gdLst/>
              <a:ahLst/>
              <a:cxnLst/>
              <a:rect l="l" t="t" r="r" b="b"/>
              <a:pathLst>
                <a:path w="723900">
                  <a:moveTo>
                    <a:pt x="0" y="0"/>
                  </a:moveTo>
                  <a:lnTo>
                    <a:pt x="723619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305895" y="6048068"/>
              <a:ext cx="236220" cy="1031875"/>
            </a:xfrm>
            <a:custGeom>
              <a:avLst/>
              <a:gdLst/>
              <a:ahLst/>
              <a:cxnLst/>
              <a:rect l="l" t="t" r="r" b="b"/>
              <a:pathLst>
                <a:path w="236220" h="1031875">
                  <a:moveTo>
                    <a:pt x="7865" y="7874"/>
                  </a:moveTo>
                  <a:lnTo>
                    <a:pt x="220232" y="7874"/>
                  </a:lnTo>
                </a:path>
                <a:path w="236220" h="1031875">
                  <a:moveTo>
                    <a:pt x="7865" y="1015872"/>
                  </a:moveTo>
                  <a:lnTo>
                    <a:pt x="7865" y="7874"/>
                  </a:lnTo>
                </a:path>
                <a:path w="236220" h="1031875">
                  <a:moveTo>
                    <a:pt x="220232" y="1031622"/>
                  </a:moveTo>
                  <a:lnTo>
                    <a:pt x="220232" y="0"/>
                  </a:lnTo>
                </a:path>
                <a:path w="236220" h="1031875">
                  <a:moveTo>
                    <a:pt x="0" y="1015872"/>
                  </a:moveTo>
                  <a:lnTo>
                    <a:pt x="235962" y="1015872"/>
                  </a:lnTo>
                </a:path>
              </a:pathLst>
            </a:custGeom>
            <a:ln w="2361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993383" y="5843319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461" y="0"/>
                  </a:lnTo>
                </a:path>
              </a:pathLst>
            </a:custGeom>
            <a:ln w="7874">
              <a:solidFill>
                <a:srgbClr val="7B7B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484398" y="5889683"/>
            <a:ext cx="1003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indent="-26034">
              <a:lnSpc>
                <a:spcPct val="100000"/>
              </a:lnSpc>
              <a:spcBef>
                <a:spcPts val="100"/>
              </a:spcBef>
              <a:buClr>
                <a:srgbClr val="BCBABA"/>
              </a:buClr>
              <a:buSzPct val="50000"/>
              <a:buFont typeface="Times New Roman"/>
              <a:buChar char="•"/>
              <a:tabLst>
                <a:tab pos="38735" algn="l"/>
              </a:tabLst>
            </a:pPr>
            <a:r>
              <a:rPr sz="900" spc="-40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  <a:r>
              <a:rPr sz="900" spc="-40" dirty="0">
                <a:solidFill>
                  <a:srgbClr val="2B2B2B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576162" y="6169940"/>
            <a:ext cx="473709" cy="8255"/>
            <a:chOff x="2576162" y="6169940"/>
            <a:chExt cx="473709" cy="8255"/>
          </a:xfrm>
        </p:grpSpPr>
        <p:sp>
          <p:nvSpPr>
            <p:cNvPr id="25" name="object 25"/>
            <p:cNvSpPr/>
            <p:nvPr/>
          </p:nvSpPr>
          <p:spPr>
            <a:xfrm>
              <a:off x="2580290" y="6174068"/>
              <a:ext cx="47625" cy="0"/>
            </a:xfrm>
            <a:custGeom>
              <a:avLst/>
              <a:gdLst/>
              <a:ahLst/>
              <a:cxnLst/>
              <a:rect l="l" t="t" r="r" b="b"/>
              <a:pathLst>
                <a:path w="47625">
                  <a:moveTo>
                    <a:pt x="0" y="0"/>
                  </a:moveTo>
                  <a:lnTo>
                    <a:pt x="47192" y="0"/>
                  </a:lnTo>
                </a:path>
              </a:pathLst>
            </a:custGeom>
            <a:ln w="7874">
              <a:solidFill>
                <a:srgbClr val="7B7B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21709" y="6174068"/>
              <a:ext cx="24130" cy="0"/>
            </a:xfrm>
            <a:custGeom>
              <a:avLst/>
              <a:gdLst/>
              <a:ahLst/>
              <a:cxnLst/>
              <a:rect l="l" t="t" r="r" b="b"/>
              <a:pathLst>
                <a:path w="24130">
                  <a:moveTo>
                    <a:pt x="0" y="0"/>
                  </a:moveTo>
                  <a:lnTo>
                    <a:pt x="23596" y="0"/>
                  </a:lnTo>
                </a:path>
              </a:pathLst>
            </a:custGeom>
            <a:ln w="7874">
              <a:solidFill>
                <a:srgbClr val="95959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567591" y="5921183"/>
            <a:ext cx="516255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4025" algn="l"/>
              </a:tabLst>
            </a:pPr>
            <a:r>
              <a:rPr sz="1900" spc="-50" dirty="0">
                <a:solidFill>
                  <a:srgbClr val="7B7B79"/>
                </a:solidFill>
                <a:latin typeface="Times New Roman"/>
                <a:cs typeface="Times New Roman"/>
              </a:rPr>
              <a:t>l</a:t>
            </a:r>
            <a:r>
              <a:rPr sz="1900" dirty="0">
                <a:solidFill>
                  <a:srgbClr val="7B7B79"/>
                </a:solidFill>
                <a:latin typeface="Times New Roman"/>
                <a:cs typeface="Times New Roman"/>
              </a:rPr>
              <a:t>	</a:t>
            </a:r>
            <a:r>
              <a:rPr sz="1750" spc="-50" dirty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endParaRPr sz="17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173197" y="613469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606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160499" y="5940870"/>
            <a:ext cx="812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45" dirty="0">
                <a:solidFill>
                  <a:srgbClr val="606060"/>
                </a:solidFill>
                <a:latin typeface="Arial"/>
                <a:cs typeface="Arial"/>
              </a:rPr>
              <a:t>[</a:t>
            </a:r>
            <a:endParaRPr sz="14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3603751" y="6174068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>
                <a:moveTo>
                  <a:pt x="0" y="0"/>
                </a:moveTo>
                <a:lnTo>
                  <a:pt x="23596" y="0"/>
                </a:lnTo>
              </a:path>
            </a:pathLst>
          </a:custGeom>
          <a:ln w="7874">
            <a:solidFill>
              <a:srgbClr val="6060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91053" y="5936933"/>
            <a:ext cx="806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40" dirty="0">
                <a:solidFill>
                  <a:srgbClr val="606060"/>
                </a:solidFill>
                <a:latin typeface="Arial"/>
                <a:cs typeface="Arial"/>
              </a:rPr>
              <a:t>l</a:t>
            </a:r>
            <a:endParaRPr sz="175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756042" y="613469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41424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743343" y="5952683"/>
            <a:ext cx="7747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45" dirty="0">
                <a:solidFill>
                  <a:srgbClr val="414242"/>
                </a:solidFill>
                <a:latin typeface="Arial"/>
                <a:cs typeface="Arial"/>
              </a:rPr>
              <a:t>[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185793" y="6174068"/>
            <a:ext cx="24130" cy="0"/>
          </a:xfrm>
          <a:custGeom>
            <a:avLst/>
            <a:gdLst/>
            <a:ahLst/>
            <a:cxnLst/>
            <a:rect l="l" t="t" r="r" b="b"/>
            <a:pathLst>
              <a:path w="24129">
                <a:moveTo>
                  <a:pt x="0" y="0"/>
                </a:moveTo>
                <a:lnTo>
                  <a:pt x="23596" y="0"/>
                </a:lnTo>
              </a:path>
            </a:pathLst>
          </a:custGeom>
          <a:ln w="7874">
            <a:solidFill>
              <a:srgbClr val="7B7B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173095" y="5936933"/>
            <a:ext cx="806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40" dirty="0">
                <a:solidFill>
                  <a:srgbClr val="7B7B79"/>
                </a:solidFill>
                <a:latin typeface="Arial"/>
                <a:cs typeface="Arial"/>
              </a:rPr>
              <a:t>l</a:t>
            </a:r>
            <a:endParaRPr sz="17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338084" y="6134693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95959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325386" y="5952683"/>
            <a:ext cx="7747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45" dirty="0">
                <a:solidFill>
                  <a:srgbClr val="959595"/>
                </a:solidFill>
                <a:latin typeface="Arial"/>
                <a:cs typeface="Arial"/>
              </a:rPr>
              <a:t>[</a:t>
            </a:r>
            <a:endParaRPr sz="13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81030" y="5649496"/>
            <a:ext cx="1206500" cy="524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11835" algn="l"/>
              </a:tabLst>
            </a:pPr>
            <a:r>
              <a:rPr sz="1150" u="sng" spc="70" dirty="0">
                <a:solidFill>
                  <a:srgbClr val="7B7B79"/>
                </a:solidFill>
                <a:uFill>
                  <a:solidFill>
                    <a:srgbClr val="7B7B79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1150" u="sng" spc="70" dirty="0">
                <a:solidFill>
                  <a:srgbClr val="414242"/>
                </a:solidFill>
                <a:uFill>
                  <a:solidFill>
                    <a:srgbClr val="7B7B79"/>
                  </a:solidFill>
                </a:uFill>
                <a:latin typeface="Times New Roman"/>
                <a:cs typeface="Times New Roman"/>
              </a:rPr>
              <a:t>Input</a:t>
            </a:r>
            <a:r>
              <a:rPr sz="1150" u="sng" spc="70" dirty="0">
                <a:solidFill>
                  <a:srgbClr val="7B7B79"/>
                </a:solidFill>
                <a:uFill>
                  <a:solidFill>
                    <a:srgbClr val="7B7B79"/>
                  </a:solidFill>
                </a:uFill>
                <a:latin typeface="Times New Roman"/>
                <a:cs typeface="Times New Roman"/>
              </a:rPr>
              <a:t>]</a:t>
            </a:r>
            <a:r>
              <a:rPr sz="1150" dirty="0">
                <a:solidFill>
                  <a:srgbClr val="7B7B79"/>
                </a:solidFill>
                <a:latin typeface="Times New Roman"/>
                <a:cs typeface="Times New Roman"/>
              </a:rPr>
              <a:t>	</a:t>
            </a:r>
            <a:r>
              <a:rPr sz="1400" dirty="0">
                <a:solidFill>
                  <a:srgbClr val="7B7B79"/>
                </a:solidFill>
                <a:latin typeface="Arial"/>
                <a:cs typeface="Arial"/>
              </a:rPr>
              <a:t>[</a:t>
            </a:r>
            <a:r>
              <a:rPr sz="1400" spc="275" dirty="0">
                <a:solidFill>
                  <a:srgbClr val="7B7B79"/>
                </a:solidFill>
                <a:latin typeface="Arial"/>
                <a:cs typeface="Arial"/>
              </a:rPr>
              <a:t> </a:t>
            </a:r>
            <a:r>
              <a:rPr sz="1875" u="heavy" baseline="2222" dirty="0">
                <a:solidFill>
                  <a:srgbClr val="414242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C1</a:t>
            </a:r>
            <a:r>
              <a:rPr sz="1875" spc="44" baseline="2222" dirty="0">
                <a:solidFill>
                  <a:srgbClr val="414242"/>
                </a:solidFill>
                <a:latin typeface="Courier New"/>
                <a:cs typeface="Courier New"/>
              </a:rPr>
              <a:t> </a:t>
            </a:r>
            <a:r>
              <a:rPr sz="1950" spc="-75" baseline="2136" dirty="0">
                <a:solidFill>
                  <a:srgbClr val="AAAAAA"/>
                </a:solidFill>
                <a:latin typeface="Arial"/>
                <a:cs typeface="Arial"/>
              </a:rPr>
              <a:t>)</a:t>
            </a:r>
            <a:endParaRPr sz="1950" baseline="2136">
              <a:latin typeface="Arial"/>
              <a:cs typeface="Arial"/>
            </a:endParaRPr>
          </a:p>
          <a:p>
            <a:pPr marL="713740">
              <a:lnSpc>
                <a:spcPct val="100000"/>
              </a:lnSpc>
              <a:spcBef>
                <a:spcPts val="1015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28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26516" y="5972370"/>
            <a:ext cx="22606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5" dirty="0">
                <a:solidFill>
                  <a:srgbClr val="414242"/>
                </a:solidFill>
                <a:latin typeface="Courier New"/>
                <a:cs typeface="Courier New"/>
              </a:rPr>
              <a:t>P</a:t>
            </a:r>
            <a:r>
              <a:rPr sz="1250" spc="-25" dirty="0">
                <a:solidFill>
                  <a:srgbClr val="131313"/>
                </a:solidFill>
                <a:latin typeface="Courier New"/>
                <a:cs typeface="Courier New"/>
              </a:rPr>
              <a:t>1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12491" y="5972370"/>
            <a:ext cx="20701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5" dirty="0">
                <a:solidFill>
                  <a:srgbClr val="2B2B2B"/>
                </a:solidFill>
                <a:latin typeface="Courier New"/>
                <a:cs typeface="Courier New"/>
              </a:rPr>
              <a:t>C2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894533" y="5972370"/>
            <a:ext cx="20320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35" dirty="0">
                <a:solidFill>
                  <a:srgbClr val="2B2B2B"/>
                </a:solidFill>
                <a:latin typeface="Courier New"/>
                <a:cs typeface="Courier New"/>
              </a:rPr>
              <a:t>C3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64010" y="6220433"/>
            <a:ext cx="16891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14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267421" y="6228308"/>
            <a:ext cx="17843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606060"/>
                </a:solidFill>
                <a:latin typeface="Courier New"/>
                <a:cs typeface="Courier New"/>
              </a:rPr>
              <a:t>14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64804" y="6436994"/>
            <a:ext cx="80518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06400" algn="l"/>
              </a:tabLst>
            </a:pPr>
            <a:r>
              <a:rPr sz="800" spc="-25" dirty="0">
                <a:solidFill>
                  <a:srgbClr val="959595"/>
                </a:solidFill>
                <a:latin typeface="Arial"/>
                <a:cs typeface="Arial"/>
              </a:rPr>
              <a:t>:;</a:t>
            </a:r>
            <a:r>
              <a:rPr sz="800" spc="-25" dirty="0">
                <a:solidFill>
                  <a:srgbClr val="7B7B79"/>
                </a:solidFill>
                <a:latin typeface="Arial"/>
                <a:cs typeface="Arial"/>
              </a:rPr>
              <a:t>m</a:t>
            </a:r>
            <a:r>
              <a:rPr sz="800" dirty="0">
                <a:solidFill>
                  <a:srgbClr val="7B7B79"/>
                </a:solidFill>
                <a:latin typeface="Arial"/>
                <a:cs typeface="Arial"/>
              </a:rPr>
              <a:t>	</a:t>
            </a:r>
            <a:r>
              <a:rPr sz="1350" spc="-15" baseline="30864" dirty="0">
                <a:solidFill>
                  <a:srgbClr val="3A75A5"/>
                </a:solidFill>
                <a:latin typeface="Arial"/>
                <a:cs typeface="Arial"/>
              </a:rPr>
              <a:t>.</a:t>
            </a:r>
            <a:r>
              <a:rPr sz="1350" spc="-15" baseline="30864" dirty="0">
                <a:solidFill>
                  <a:srgbClr val="2359A1"/>
                </a:solidFill>
                <a:latin typeface="Arial"/>
                <a:cs typeface="Arial"/>
              </a:rPr>
              <a:t>.</a:t>
            </a:r>
            <a:r>
              <a:rPr sz="1300" spc="-10" dirty="0">
                <a:solidFill>
                  <a:srgbClr val="959595"/>
                </a:solidFill>
                <a:latin typeface="Arial"/>
                <a:cs typeface="Arial"/>
              </a:rPr>
              <a:t>;</a:t>
            </a:r>
            <a:r>
              <a:rPr sz="1300" spc="-10" dirty="0">
                <a:solidFill>
                  <a:srgbClr val="7B7B79"/>
                </a:solidFill>
                <a:latin typeface="Arial"/>
                <a:cs typeface="Arial"/>
              </a:rPr>
              <a:t>;</a:t>
            </a:r>
            <a:r>
              <a:rPr sz="550" spc="-10" dirty="0">
                <a:solidFill>
                  <a:srgbClr val="606060"/>
                </a:solidFill>
                <a:latin typeface="Times New Roman"/>
                <a:cs typeface="Times New Roman"/>
              </a:rPr>
              <a:t>..</a:t>
            </a:r>
            <a:r>
              <a:rPr sz="1300" spc="-10" dirty="0">
                <a:solidFill>
                  <a:srgbClr val="959595"/>
                </a:solidFill>
                <a:latin typeface="Arial"/>
                <a:cs typeface="Arial"/>
              </a:rPr>
              <a:t>;</a:t>
            </a:r>
            <a:r>
              <a:rPr sz="1300" spc="-10" dirty="0">
                <a:solidFill>
                  <a:srgbClr val="7B7B79"/>
                </a:solidFill>
                <a:latin typeface="Arial"/>
                <a:cs typeface="Arial"/>
              </a:rPr>
              <a:t>;</a:t>
            </a:r>
            <a:r>
              <a:rPr sz="1300" spc="-10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endParaRPr sz="13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52810" y="6503931"/>
            <a:ext cx="21082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-105" dirty="0">
                <a:solidFill>
                  <a:srgbClr val="959595"/>
                </a:solidFill>
                <a:latin typeface="Arial"/>
                <a:cs typeface="Arial"/>
              </a:rPr>
              <a:t>;</a:t>
            </a:r>
            <a:r>
              <a:rPr sz="1150" spc="-105" dirty="0">
                <a:solidFill>
                  <a:srgbClr val="7B7B79"/>
                </a:solidFill>
                <a:latin typeface="Arial"/>
                <a:cs typeface="Arial"/>
              </a:rPr>
              <a:t>;</a:t>
            </a:r>
            <a:r>
              <a:rPr sz="1150" spc="-105" dirty="0">
                <a:solidFill>
                  <a:srgbClr val="959595"/>
                </a:solidFill>
                <a:latin typeface="Arial"/>
                <a:cs typeface="Arial"/>
              </a:rPr>
              <a:t>;</a:t>
            </a:r>
            <a:r>
              <a:rPr sz="1150" spc="35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150" spc="-105" dirty="0">
                <a:solidFill>
                  <a:srgbClr val="959595"/>
                </a:solidFill>
                <a:latin typeface="Arial"/>
                <a:cs typeface="Arial"/>
              </a:rPr>
              <a:t>;</a:t>
            </a:r>
            <a:r>
              <a:rPr sz="1150" spc="-105" dirty="0">
                <a:solidFill>
                  <a:srgbClr val="505050"/>
                </a:solidFill>
                <a:latin typeface="Arial"/>
                <a:cs typeface="Arial"/>
              </a:rPr>
              <a:t>·</a:t>
            </a:r>
            <a:endParaRPr sz="115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906474" y="6622363"/>
            <a:ext cx="24130" cy="156210"/>
          </a:xfrm>
          <a:custGeom>
            <a:avLst/>
            <a:gdLst/>
            <a:ahLst/>
            <a:cxnLst/>
            <a:rect l="l" t="t" r="r" b="b"/>
            <a:pathLst>
              <a:path w="24130" h="156209">
                <a:moveTo>
                  <a:pt x="23596" y="155780"/>
                </a:moveTo>
                <a:lnTo>
                  <a:pt x="0" y="155780"/>
                </a:lnTo>
                <a:lnTo>
                  <a:pt x="0" y="0"/>
                </a:lnTo>
                <a:lnTo>
                  <a:pt x="23596" y="0"/>
                </a:lnTo>
                <a:lnTo>
                  <a:pt x="23596" y="155780"/>
                </a:lnTo>
                <a:close/>
              </a:path>
            </a:pathLst>
          </a:custGeom>
          <a:solidFill>
            <a:srgbClr val="E6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487182" y="6574807"/>
            <a:ext cx="21971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130" dirty="0">
                <a:solidFill>
                  <a:srgbClr val="BCBABA"/>
                </a:solidFill>
                <a:latin typeface="Arial"/>
                <a:cs typeface="Arial"/>
              </a:rPr>
              <a:t>·</a:t>
            </a:r>
            <a:r>
              <a:rPr sz="1050" spc="-130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1050" spc="-130" dirty="0">
                <a:solidFill>
                  <a:srgbClr val="AAAAAA"/>
                </a:solidFill>
                <a:latin typeface="Arial"/>
                <a:cs typeface="Arial"/>
              </a:rPr>
              <a:t>·</a:t>
            </a:r>
            <a:r>
              <a:rPr sz="1050" spc="-130" dirty="0">
                <a:solidFill>
                  <a:srgbClr val="7B7B79"/>
                </a:solidFill>
                <a:latin typeface="Arial"/>
                <a:cs typeface="Arial"/>
              </a:rPr>
              <a:t>·</a:t>
            </a:r>
            <a:r>
              <a:rPr sz="1050" spc="-130" dirty="0">
                <a:solidFill>
                  <a:srgbClr val="BCBABA"/>
                </a:solidFill>
                <a:latin typeface="Arial"/>
                <a:cs typeface="Arial"/>
              </a:rPr>
              <a:t>·</a:t>
            </a:r>
            <a:r>
              <a:rPr sz="1050" spc="-130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1050" spc="-130" dirty="0">
                <a:solidFill>
                  <a:srgbClr val="959595"/>
                </a:solidFill>
                <a:latin typeface="Arial"/>
                <a:cs typeface="Arial"/>
              </a:rPr>
              <a:t>·</a:t>
            </a:r>
            <a:endParaRPr sz="10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52869" y="6559056"/>
            <a:ext cx="1797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20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  <a:r>
              <a:rPr sz="600" spc="-20" dirty="0">
                <a:solidFill>
                  <a:srgbClr val="AAAAAA"/>
                </a:solidFill>
                <a:latin typeface="Arial"/>
                <a:cs typeface="Arial"/>
              </a:rPr>
              <a:t>,</a:t>
            </a:r>
            <a:r>
              <a:rPr sz="900" spc="-20" dirty="0">
                <a:solidFill>
                  <a:srgbClr val="BCBABA"/>
                </a:solidFill>
                <a:latin typeface="Arial"/>
                <a:cs typeface="Arial"/>
              </a:rPr>
              <a:t>.</a:t>
            </a:r>
            <a:r>
              <a:rPr sz="900" spc="-20" dirty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600" spc="-20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  <a:r>
              <a:rPr sz="500" spc="-20" dirty="0">
                <a:solidFill>
                  <a:srgbClr val="BCBABA"/>
                </a:solidFill>
                <a:latin typeface="Arial"/>
                <a:cs typeface="Arial"/>
              </a:rPr>
              <a:t>,</a:t>
            </a:r>
            <a:r>
              <a:rPr sz="500" spc="-20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  <a:endParaRPr sz="5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131189" y="6732306"/>
            <a:ext cx="18478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30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59524" y="6614181"/>
            <a:ext cx="186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015"/>
              </a:lnSpc>
              <a:spcBef>
                <a:spcPts val="100"/>
              </a:spcBef>
            </a:pPr>
            <a:r>
              <a:rPr sz="900" spc="-95" dirty="0">
                <a:solidFill>
                  <a:srgbClr val="2B2B2B"/>
                </a:solidFill>
                <a:latin typeface="Arial"/>
                <a:cs typeface="Arial"/>
              </a:rPr>
              <a:t>·</a:t>
            </a:r>
            <a:r>
              <a:rPr sz="900" spc="-95" dirty="0">
                <a:solidFill>
                  <a:srgbClr val="BCBABA"/>
                </a:solidFill>
                <a:latin typeface="Arial"/>
                <a:cs typeface="Arial"/>
              </a:rPr>
              <a:t>•</a:t>
            </a:r>
            <a:r>
              <a:rPr sz="900" spc="-95" dirty="0">
                <a:solidFill>
                  <a:srgbClr val="7B7B79"/>
                </a:solidFill>
                <a:latin typeface="Arial"/>
                <a:cs typeface="Arial"/>
              </a:rPr>
              <a:t>·</a:t>
            </a:r>
            <a:r>
              <a:rPr sz="900" spc="-95" dirty="0">
                <a:solidFill>
                  <a:srgbClr val="AAAAAA"/>
                </a:solidFill>
                <a:latin typeface="Arial"/>
                <a:cs typeface="Arial"/>
              </a:rPr>
              <a:t>•</a:t>
            </a:r>
            <a:r>
              <a:rPr sz="900" spc="-95" dirty="0">
                <a:solidFill>
                  <a:srgbClr val="606060"/>
                </a:solidFill>
                <a:latin typeface="Arial"/>
                <a:cs typeface="Arial"/>
              </a:rPr>
              <a:t>·</a:t>
            </a:r>
            <a:r>
              <a:rPr sz="900" spc="-95" dirty="0">
                <a:solidFill>
                  <a:srgbClr val="BCBABA"/>
                </a:solidFill>
                <a:latin typeface="Arial"/>
                <a:cs typeface="Arial"/>
              </a:rPr>
              <a:t>·</a:t>
            </a:r>
            <a:endParaRPr sz="900">
              <a:latin typeface="Arial"/>
              <a:cs typeface="Arial"/>
            </a:endParaRPr>
          </a:p>
          <a:p>
            <a:pPr marL="14604">
              <a:lnSpc>
                <a:spcPts val="1135"/>
              </a:lnSpc>
            </a:pPr>
            <a:r>
              <a:rPr sz="1000" spc="-25" dirty="0">
                <a:solidFill>
                  <a:srgbClr val="414242"/>
                </a:solidFill>
                <a:latin typeface="Courier New"/>
                <a:cs typeface="Courier New"/>
              </a:rPr>
              <a:t>28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440831" y="6493178"/>
            <a:ext cx="210185" cy="3390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204"/>
              </a:spcBef>
            </a:pPr>
            <a:r>
              <a:rPr sz="1000" spc="-25" dirty="0">
                <a:solidFill>
                  <a:srgbClr val="606060"/>
                </a:solidFill>
                <a:latin typeface="Courier New"/>
                <a:cs typeface="Courier New"/>
              </a:rPr>
              <a:t>14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450" dirty="0">
                <a:solidFill>
                  <a:srgbClr val="BCBABA"/>
                </a:solidFill>
                <a:latin typeface="Times New Roman"/>
                <a:cs typeface="Times New Roman"/>
              </a:rPr>
              <a:t>,</a:t>
            </a:r>
            <a:r>
              <a:rPr sz="450" spc="275" dirty="0">
                <a:solidFill>
                  <a:srgbClr val="BCBABA"/>
                </a:solidFill>
                <a:latin typeface="Times New Roman"/>
                <a:cs typeface="Times New Roman"/>
              </a:rPr>
              <a:t> </a:t>
            </a:r>
            <a:r>
              <a:rPr sz="900" spc="-105" dirty="0">
                <a:solidFill>
                  <a:srgbClr val="7B7B79"/>
                </a:solidFill>
                <a:latin typeface="Arial"/>
                <a:cs typeface="Arial"/>
              </a:rPr>
              <a:t>..</a:t>
            </a:r>
            <a:r>
              <a:rPr sz="550" spc="-105" dirty="0">
                <a:solidFill>
                  <a:srgbClr val="BCBABA"/>
                </a:solidFill>
                <a:latin typeface="Times New Roman"/>
                <a:cs typeface="Times New Roman"/>
              </a:rPr>
              <a:t>,</a:t>
            </a:r>
            <a:r>
              <a:rPr sz="550" spc="-55" dirty="0">
                <a:solidFill>
                  <a:srgbClr val="BCBABA"/>
                </a:solidFill>
                <a:latin typeface="Times New Roman"/>
                <a:cs typeface="Times New Roman"/>
              </a:rPr>
              <a:t> </a:t>
            </a:r>
            <a:r>
              <a:rPr sz="900" spc="-25" dirty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900" spc="-25" dirty="0">
                <a:solidFill>
                  <a:srgbClr val="606060"/>
                </a:solidFill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20205" y="6677181"/>
            <a:ext cx="16891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14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188767" y="6677181"/>
            <a:ext cx="16891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14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31287" y="6830742"/>
            <a:ext cx="383540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220" dirty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1550" spc="-220" dirty="0">
                <a:solidFill>
                  <a:srgbClr val="414242"/>
                </a:solidFill>
                <a:latin typeface="Arial"/>
                <a:cs typeface="Arial"/>
              </a:rPr>
              <a:t>·</a:t>
            </a:r>
            <a:r>
              <a:rPr sz="1550" spc="-220" dirty="0">
                <a:solidFill>
                  <a:srgbClr val="959595"/>
                </a:solidFill>
                <a:latin typeface="Arial"/>
                <a:cs typeface="Arial"/>
              </a:rPr>
              <a:t>···</a:t>
            </a:r>
            <a:r>
              <a:rPr sz="1550" spc="-60" dirty="0">
                <a:solidFill>
                  <a:srgbClr val="959595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414242"/>
                </a:solidFill>
                <a:latin typeface="Arial"/>
                <a:cs typeface="Arial"/>
              </a:rPr>
              <a:t>fii</a:t>
            </a:r>
            <a:endParaRPr sz="15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42664" y="6905555"/>
            <a:ext cx="17081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2B2B2B"/>
                </a:solidFill>
                <a:latin typeface="Courier New"/>
                <a:cs typeface="Courier New"/>
              </a:rPr>
              <a:t>1</a:t>
            </a:r>
            <a:r>
              <a:rPr sz="1000" spc="-25" dirty="0">
                <a:solidFill>
                  <a:srgbClr val="606060"/>
                </a:solidFill>
                <a:latin typeface="Courier New"/>
                <a:cs typeface="Courier New"/>
              </a:rPr>
              <a:t>2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724707" y="6905555"/>
            <a:ext cx="17653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18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393269" y="6905555"/>
            <a:ext cx="17653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505050"/>
                </a:solidFill>
                <a:latin typeface="Courier New"/>
                <a:cs typeface="Courier New"/>
              </a:rPr>
              <a:t>18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32050" y="7011868"/>
            <a:ext cx="34163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114" dirty="0">
                <a:solidFill>
                  <a:srgbClr val="808795"/>
                </a:solidFill>
                <a:latin typeface="Arial"/>
                <a:cs typeface="Arial"/>
              </a:rPr>
              <a:t>.</a:t>
            </a:r>
            <a:r>
              <a:rPr sz="900" spc="-114" dirty="0">
                <a:solidFill>
                  <a:srgbClr val="414242"/>
                </a:solidFill>
                <a:latin typeface="Arial"/>
                <a:cs typeface="Arial"/>
              </a:rPr>
              <a:t>.</a:t>
            </a:r>
            <a:r>
              <a:rPr sz="900" spc="-114" dirty="0">
                <a:solidFill>
                  <a:srgbClr val="7B7B79"/>
                </a:solidFill>
                <a:latin typeface="Arial"/>
                <a:cs typeface="Arial"/>
              </a:rPr>
              <a:t>.</a:t>
            </a:r>
            <a:r>
              <a:rPr sz="900" spc="-114" dirty="0">
                <a:solidFill>
                  <a:srgbClr val="959595"/>
                </a:solidFill>
                <a:latin typeface="Arial"/>
                <a:cs typeface="Arial"/>
              </a:rPr>
              <a:t>.</a:t>
            </a:r>
            <a:r>
              <a:rPr sz="900" spc="-114" dirty="0">
                <a:solidFill>
                  <a:srgbClr val="7B7B79"/>
                </a:solidFill>
                <a:latin typeface="Times New Roman"/>
                <a:cs typeface="Times New Roman"/>
              </a:rPr>
              <a:t>•</a:t>
            </a:r>
            <a:r>
              <a:rPr sz="900" spc="-114" dirty="0">
                <a:solidFill>
                  <a:srgbClr val="959595"/>
                </a:solidFill>
                <a:latin typeface="Times New Roman"/>
                <a:cs typeface="Times New Roman"/>
              </a:rPr>
              <a:t>··</a:t>
            </a:r>
            <a:r>
              <a:rPr sz="900" spc="-114" dirty="0">
                <a:solidFill>
                  <a:srgbClr val="505050"/>
                </a:solidFill>
                <a:latin typeface="Times New Roman"/>
                <a:cs typeface="Times New Roman"/>
              </a:rPr>
              <a:t>··</a:t>
            </a:r>
            <a:r>
              <a:rPr sz="900" spc="-114" dirty="0">
                <a:solidFill>
                  <a:srgbClr val="7B7B79"/>
                </a:solidFill>
                <a:latin typeface="Times New Roman"/>
                <a:cs typeface="Times New Roman"/>
              </a:rPr>
              <a:t>·</a:t>
            </a:r>
            <a:r>
              <a:rPr sz="900" spc="-114" dirty="0">
                <a:solidFill>
                  <a:srgbClr val="505050"/>
                </a:solidFill>
                <a:latin typeface="Times New Roman"/>
                <a:cs typeface="Times New Roman"/>
              </a:rPr>
              <a:t>·</a:t>
            </a:r>
            <a:r>
              <a:rPr sz="900" spc="-114" dirty="0">
                <a:solidFill>
                  <a:srgbClr val="959595"/>
                </a:solidFill>
                <a:latin typeface="Times New Roman"/>
                <a:cs typeface="Times New Roman"/>
              </a:rPr>
              <a:t>·</a:t>
            </a:r>
            <a:r>
              <a:rPr sz="900" spc="-114" dirty="0">
                <a:solidFill>
                  <a:srgbClr val="BCBABA"/>
                </a:solidFill>
                <a:latin typeface="Times New Roman"/>
                <a:cs typeface="Times New Roman"/>
              </a:rPr>
              <a:t>··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96364" y="7291429"/>
            <a:ext cx="7175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40" dirty="0">
                <a:solidFill>
                  <a:srgbClr val="505050"/>
                </a:solidFill>
                <a:latin typeface="Courier New"/>
                <a:cs typeface="Courier New"/>
              </a:rPr>
              <a:t>3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939253" y="7204805"/>
            <a:ext cx="16764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-25" dirty="0">
                <a:solidFill>
                  <a:srgbClr val="606060"/>
                </a:solidFill>
                <a:latin typeface="Courier New"/>
                <a:cs typeface="Courier New"/>
              </a:rPr>
              <a:t>10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559826" y="5574684"/>
            <a:ext cx="861060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u="sng" dirty="0">
                <a:solidFill>
                  <a:srgbClr val="7B7B79"/>
                </a:solidFill>
                <a:uFill>
                  <a:solidFill>
                    <a:srgbClr val="505050"/>
                  </a:solidFill>
                </a:uFill>
                <a:latin typeface="Times New Roman"/>
                <a:cs typeface="Times New Roman"/>
              </a:rPr>
              <a:t>[</a:t>
            </a:r>
            <a:r>
              <a:rPr sz="1150" u="sng" spc="375" dirty="0">
                <a:solidFill>
                  <a:srgbClr val="7B7B79"/>
                </a:solidFill>
                <a:uFill>
                  <a:solidFill>
                    <a:srgbClr val="5050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0" u="sng" dirty="0">
                <a:solidFill>
                  <a:srgbClr val="414242"/>
                </a:solidFill>
                <a:uFill>
                  <a:solidFill>
                    <a:srgbClr val="505050"/>
                  </a:solidFill>
                </a:uFill>
                <a:latin typeface="Times New Roman"/>
                <a:cs typeface="Times New Roman"/>
              </a:rPr>
              <a:t>Inception</a:t>
            </a:r>
            <a:r>
              <a:rPr sz="1150" u="sng" spc="425" dirty="0">
                <a:solidFill>
                  <a:srgbClr val="414242"/>
                </a:solidFill>
                <a:uFill>
                  <a:solidFill>
                    <a:srgbClr val="50505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50" u="sng" spc="-50" dirty="0">
                <a:solidFill>
                  <a:srgbClr val="505050"/>
                </a:solidFill>
                <a:uFill>
                  <a:solidFill>
                    <a:srgbClr val="505050"/>
                  </a:solidFill>
                </a:uFill>
                <a:latin typeface="Times New Roman"/>
                <a:cs typeface="Times New Roman"/>
              </a:rPr>
              <a:t>]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6684088" y="5673121"/>
            <a:ext cx="1158875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u="sng" dirty="0">
                <a:solidFill>
                  <a:srgbClr val="959595"/>
                </a:solidFill>
                <a:uFill>
                  <a:solidFill>
                    <a:srgbClr val="2B2B2B"/>
                  </a:solidFill>
                </a:uFill>
                <a:latin typeface="Courier New"/>
                <a:cs typeface="Courier New"/>
              </a:rPr>
              <a:t>[</a:t>
            </a:r>
            <a:r>
              <a:rPr sz="1250" u="sng" spc="-75" dirty="0">
                <a:solidFill>
                  <a:srgbClr val="959595"/>
                </a:solidFill>
                <a:uFill>
                  <a:solidFill>
                    <a:srgbClr val="2B2B2B"/>
                  </a:solidFill>
                </a:uFill>
                <a:latin typeface="Courier New"/>
                <a:cs typeface="Courier New"/>
              </a:rPr>
              <a:t> </a:t>
            </a:r>
            <a:r>
              <a:rPr sz="1250" u="sng" dirty="0">
                <a:solidFill>
                  <a:srgbClr val="2B2B2B"/>
                </a:solidFill>
                <a:uFill>
                  <a:solidFill>
                    <a:srgbClr val="2B2B2B"/>
                  </a:solidFill>
                </a:uFill>
                <a:latin typeface="Courier New"/>
                <a:cs typeface="Courier New"/>
              </a:rPr>
              <a:t>P3</a:t>
            </a:r>
            <a:r>
              <a:rPr sz="1250" spc="-65" dirty="0">
                <a:solidFill>
                  <a:srgbClr val="2B2B2B"/>
                </a:solidFill>
                <a:latin typeface="Courier New"/>
                <a:cs typeface="Courier New"/>
              </a:rPr>
              <a:t> </a:t>
            </a:r>
            <a:r>
              <a:rPr sz="1250" u="sng" spc="-75" dirty="0">
                <a:solidFill>
                  <a:srgbClr val="7B7B79"/>
                </a:solidFill>
                <a:uFill>
                  <a:solidFill>
                    <a:srgbClr val="959595"/>
                  </a:solidFill>
                </a:uFill>
                <a:latin typeface="Courier New"/>
                <a:cs typeface="Courier New"/>
              </a:rPr>
              <a:t>]</a:t>
            </a:r>
            <a:r>
              <a:rPr sz="1250" spc="-415" dirty="0">
                <a:solidFill>
                  <a:srgbClr val="7B7B79"/>
                </a:solidFill>
                <a:latin typeface="Courier New"/>
                <a:cs typeface="Courier New"/>
              </a:rPr>
              <a:t> </a:t>
            </a:r>
            <a:r>
              <a:rPr sz="1250" u="sng" dirty="0">
                <a:solidFill>
                  <a:srgbClr val="959595"/>
                </a:solidFill>
                <a:uFill>
                  <a:solidFill>
                    <a:srgbClr val="959595"/>
                  </a:solidFill>
                </a:uFill>
                <a:latin typeface="Courier New"/>
                <a:cs typeface="Courier New"/>
              </a:rPr>
              <a:t>[</a:t>
            </a:r>
            <a:r>
              <a:rPr sz="1250" spc="-85" dirty="0">
                <a:solidFill>
                  <a:srgbClr val="959595"/>
                </a:solidFill>
                <a:latin typeface="Courier New"/>
                <a:cs typeface="Courier New"/>
              </a:rPr>
              <a:t> </a:t>
            </a:r>
            <a:r>
              <a:rPr sz="1250" u="sng" dirty="0">
                <a:solidFill>
                  <a:srgbClr val="2B2B2B"/>
                </a:solidFill>
                <a:uFill>
                  <a:solidFill>
                    <a:srgbClr val="414242"/>
                  </a:solidFill>
                </a:uFill>
                <a:latin typeface="Courier New"/>
                <a:cs typeface="Courier New"/>
              </a:rPr>
              <a:t>M1</a:t>
            </a:r>
            <a:r>
              <a:rPr sz="1250" u="sng" spc="-130" dirty="0">
                <a:solidFill>
                  <a:srgbClr val="2B2B2B"/>
                </a:solidFill>
                <a:uFill>
                  <a:solidFill>
                    <a:srgbClr val="414242"/>
                  </a:solidFill>
                </a:uFill>
                <a:latin typeface="Courier New"/>
                <a:cs typeface="Courier New"/>
              </a:rPr>
              <a:t> </a:t>
            </a:r>
            <a:r>
              <a:rPr sz="1250" spc="-50" dirty="0">
                <a:solidFill>
                  <a:srgbClr val="414242"/>
                </a:solidFill>
                <a:latin typeface="Courier New"/>
                <a:cs typeface="Courier New"/>
              </a:rPr>
              <a:t>]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201434" y="5843319"/>
            <a:ext cx="31750" cy="0"/>
          </a:xfrm>
          <a:custGeom>
            <a:avLst/>
            <a:gdLst/>
            <a:ahLst/>
            <a:cxnLst/>
            <a:rect l="l" t="t" r="r" b="b"/>
            <a:pathLst>
              <a:path w="31750">
                <a:moveTo>
                  <a:pt x="0" y="0"/>
                </a:moveTo>
                <a:lnTo>
                  <a:pt x="31461" y="0"/>
                </a:lnTo>
              </a:path>
            </a:pathLst>
          </a:custGeom>
          <a:ln w="7874">
            <a:solidFill>
              <a:srgbClr val="7B7B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4399806" y="5866058"/>
            <a:ext cx="866140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57505" algn="l"/>
              </a:tabLst>
            </a:pPr>
            <a:r>
              <a:rPr sz="950" u="heavy" spc="1900" dirty="0">
                <a:solidFill>
                  <a:srgbClr val="60606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250" spc="155" dirty="0">
                <a:solidFill>
                  <a:srgbClr val="2B2B2B"/>
                </a:solidFill>
                <a:latin typeface="Courier New"/>
                <a:cs typeface="Courier New"/>
              </a:rPr>
              <a:t>C</a:t>
            </a:r>
            <a:r>
              <a:rPr sz="1250" spc="-1570" dirty="0">
                <a:solidFill>
                  <a:srgbClr val="2B2B2B"/>
                </a:solidFill>
                <a:latin typeface="Courier New"/>
                <a:cs typeface="Courier New"/>
              </a:rPr>
              <a:t>4</a:t>
            </a:r>
            <a:r>
              <a:rPr sz="2050" spc="165" dirty="0">
                <a:solidFill>
                  <a:srgbClr val="505050"/>
                </a:solidFill>
                <a:latin typeface="Times New Roman"/>
                <a:cs typeface="Times New Roman"/>
              </a:rPr>
              <a:t>_</a:t>
            </a:r>
            <a:r>
              <a:rPr sz="2050" dirty="0">
                <a:solidFill>
                  <a:srgbClr val="505050"/>
                </a:solidFill>
                <a:latin typeface="Times New Roman"/>
                <a:cs typeface="Times New Roman"/>
              </a:rPr>
              <a:t>	</a:t>
            </a:r>
            <a:r>
              <a:rPr sz="950" u="dbl" spc="-240" dirty="0">
                <a:solidFill>
                  <a:srgbClr val="606060"/>
                </a:solidFill>
                <a:uFill>
                  <a:solidFill>
                    <a:srgbClr val="95959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spc="-877" baseline="2222" dirty="0">
                <a:solidFill>
                  <a:srgbClr val="7B7B79"/>
                </a:solidFill>
                <a:latin typeface="Courier New"/>
                <a:cs typeface="Courier New"/>
              </a:rPr>
              <a:t>]</a:t>
            </a:r>
            <a:r>
              <a:rPr sz="950" u="sng" spc="-25" dirty="0">
                <a:solidFill>
                  <a:srgbClr val="606060"/>
                </a:solidFill>
                <a:uFill>
                  <a:solidFill>
                    <a:srgbClr val="959595"/>
                  </a:solidFill>
                </a:uFill>
                <a:latin typeface="Times New Roman"/>
                <a:cs typeface="Times New Roman"/>
              </a:rPr>
              <a:t>,</a:t>
            </a:r>
            <a:r>
              <a:rPr sz="950" u="sng" spc="445" dirty="0">
                <a:solidFill>
                  <a:srgbClr val="606060"/>
                </a:solidFill>
                <a:uFill>
                  <a:solidFill>
                    <a:srgbClr val="95959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spc="44" baseline="2222" dirty="0">
                <a:solidFill>
                  <a:srgbClr val="959595"/>
                </a:solidFill>
                <a:latin typeface="Courier New"/>
                <a:cs typeface="Courier New"/>
              </a:rPr>
              <a:t>[</a:t>
            </a:r>
            <a:r>
              <a:rPr sz="1875" spc="-82" baseline="2222" dirty="0">
                <a:solidFill>
                  <a:srgbClr val="959595"/>
                </a:solidFill>
                <a:latin typeface="Courier New"/>
                <a:cs typeface="Courier New"/>
              </a:rPr>
              <a:t> </a:t>
            </a:r>
            <a:r>
              <a:rPr sz="950" u="sng" spc="-240" dirty="0">
                <a:solidFill>
                  <a:srgbClr val="606060"/>
                </a:solidFill>
                <a:uFill>
                  <a:solidFill>
                    <a:srgbClr val="2B2B2B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875" spc="-89" baseline="2222" dirty="0">
                <a:solidFill>
                  <a:srgbClr val="2B2B2B"/>
                </a:solidFill>
                <a:latin typeface="Courier New"/>
                <a:cs typeface="Courier New"/>
              </a:rPr>
              <a:t>P2</a:t>
            </a:r>
            <a:endParaRPr sz="1875" baseline="2222">
              <a:latin typeface="Courier New"/>
              <a:cs typeface="Courier New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8163335" y="5614059"/>
            <a:ext cx="53403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950" baseline="2136" dirty="0">
                <a:solidFill>
                  <a:srgbClr val="7B7B79"/>
                </a:solidFill>
                <a:latin typeface="Arial"/>
                <a:cs typeface="Arial"/>
              </a:rPr>
              <a:t>(</a:t>
            </a:r>
            <a:r>
              <a:rPr sz="1950" spc="352" baseline="2136" dirty="0">
                <a:solidFill>
                  <a:srgbClr val="7B7B79"/>
                </a:solidFill>
                <a:latin typeface="Arial"/>
                <a:cs typeface="Arial"/>
              </a:rPr>
              <a:t> </a:t>
            </a:r>
            <a:r>
              <a:rPr sz="1300" u="heavy" dirty="0">
                <a:solidFill>
                  <a:srgbClr val="414242"/>
                </a:solidFill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FC</a:t>
            </a:r>
            <a:r>
              <a:rPr sz="1300" spc="-135" dirty="0">
                <a:solidFill>
                  <a:srgbClr val="414242"/>
                </a:solidFill>
                <a:latin typeface="Courier New"/>
                <a:cs typeface="Courier New"/>
              </a:rPr>
              <a:t> </a:t>
            </a:r>
            <a:r>
              <a:rPr sz="2625" spc="-75" baseline="-7936" dirty="0">
                <a:solidFill>
                  <a:srgbClr val="959595"/>
                </a:solidFill>
                <a:latin typeface="Arial"/>
                <a:cs typeface="Arial"/>
              </a:rPr>
              <a:t>l</a:t>
            </a:r>
            <a:endParaRPr sz="2625" baseline="-7936">
              <a:latin typeface="Arial"/>
              <a:cs typeface="Arial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8701070" y="6111068"/>
            <a:ext cx="541655" cy="0"/>
          </a:xfrm>
          <a:custGeom>
            <a:avLst/>
            <a:gdLst/>
            <a:ahLst/>
            <a:cxnLst/>
            <a:rect l="l" t="t" r="r" b="b"/>
            <a:pathLst>
              <a:path w="541654">
                <a:moveTo>
                  <a:pt x="0" y="0"/>
                </a:moveTo>
                <a:lnTo>
                  <a:pt x="541527" y="0"/>
                </a:lnTo>
              </a:path>
            </a:pathLst>
          </a:custGeom>
          <a:ln w="7874">
            <a:solidFill>
              <a:srgbClr val="7B7B7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8688370" y="5952683"/>
            <a:ext cx="589915" cy="200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" spc="45" dirty="0">
                <a:solidFill>
                  <a:srgbClr val="959595"/>
                </a:solidFill>
                <a:latin typeface="Times New Roman"/>
                <a:cs typeface="Times New Roman"/>
              </a:rPr>
              <a:t>(</a:t>
            </a:r>
            <a:r>
              <a:rPr sz="1150" spc="45" dirty="0">
                <a:solidFill>
                  <a:srgbClr val="2B2B2B"/>
                </a:solidFill>
                <a:latin typeface="Times New Roman"/>
                <a:cs typeface="Times New Roman"/>
              </a:rPr>
              <a:t>Output</a:t>
            </a:r>
            <a:r>
              <a:rPr sz="1150" spc="45" dirty="0">
                <a:solidFill>
                  <a:srgbClr val="7B7B79"/>
                </a:solidFill>
                <a:latin typeface="Times New Roman"/>
                <a:cs typeface="Times New Roman"/>
              </a:rPr>
              <a:t>]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687867" y="6503931"/>
            <a:ext cx="190500" cy="238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00" spc="-90" dirty="0">
                <a:latin typeface="Arial"/>
                <a:cs typeface="Arial"/>
              </a:rPr>
              <a:t>►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306067" y="6145619"/>
            <a:ext cx="334645" cy="444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10"/>
              </a:lnSpc>
            </a:pPr>
            <a:r>
              <a:rPr sz="3500" spc="-969" dirty="0">
                <a:solidFill>
                  <a:srgbClr val="7097C3"/>
                </a:solidFill>
                <a:latin typeface="Times New Roman"/>
                <a:cs typeface="Times New Roman"/>
              </a:rPr>
              <a:t>•</a:t>
            </a:r>
            <a:r>
              <a:rPr sz="1950" spc="-1455" baseline="-19230" dirty="0">
                <a:solidFill>
                  <a:srgbClr val="7097C3"/>
                </a:solidFill>
                <a:latin typeface="Times New Roman"/>
                <a:cs typeface="Times New Roman"/>
              </a:rPr>
              <a:t>C</a:t>
            </a:r>
            <a:endParaRPr sz="1950" baseline="-19230">
              <a:latin typeface="Times New Roman"/>
              <a:cs typeface="Times New Roman"/>
            </a:endParaRPr>
          </a:p>
          <a:p>
            <a:pPr marL="73025">
              <a:lnSpc>
                <a:spcPts val="1785"/>
              </a:lnSpc>
            </a:pPr>
            <a:r>
              <a:rPr sz="1900" spc="-35" dirty="0">
                <a:solidFill>
                  <a:srgbClr val="7097C3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091074" y="6358244"/>
            <a:ext cx="39433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00" dirty="0">
                <a:solidFill>
                  <a:srgbClr val="BCBABA"/>
                </a:solidFill>
                <a:latin typeface="Arial"/>
                <a:cs typeface="Arial"/>
              </a:rPr>
              <a:t>-</a:t>
            </a:r>
            <a:r>
              <a:rPr sz="1400" spc="140" dirty="0">
                <a:latin typeface="Arial"/>
                <a:cs typeface="Arial"/>
              </a:rPr>
              <a:t>►</a:t>
            </a:r>
            <a:r>
              <a:rPr sz="1900" spc="140" dirty="0">
                <a:solidFill>
                  <a:srgbClr val="7097C3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366798" y="6531494"/>
            <a:ext cx="118745" cy="3187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spc="65" dirty="0">
                <a:solidFill>
                  <a:srgbClr val="7097C3"/>
                </a:solidFill>
                <a:latin typeface="Arial"/>
                <a:cs typeface="Arial"/>
              </a:rPr>
              <a:t>•</a:t>
            </a:r>
            <a:endParaRPr sz="19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8348116" y="6645681"/>
            <a:ext cx="15684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85" dirty="0">
                <a:solidFill>
                  <a:srgbClr val="5D82B3"/>
                </a:solidFill>
                <a:latin typeface="Arial"/>
                <a:cs typeface="Arial"/>
              </a:rPr>
              <a:t>e</a:t>
            </a:r>
            <a:endParaRPr sz="17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8331467" y="6657493"/>
            <a:ext cx="196850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00" spc="120" dirty="0">
                <a:solidFill>
                  <a:srgbClr val="7097C3"/>
                </a:solidFill>
                <a:latin typeface="Times New Roman"/>
                <a:cs typeface="Times New Roman"/>
              </a:rPr>
              <a:t>•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48571" y="7102430"/>
            <a:ext cx="177800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-25" dirty="0">
                <a:solidFill>
                  <a:srgbClr val="505050"/>
                </a:solidFill>
                <a:latin typeface="Courier New"/>
                <a:cs typeface="Courier New"/>
              </a:rPr>
              <a:t>80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3769244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EF8FC69F-CBD2-158D-EF0F-1A72BA20FB02}"/>
              </a:ext>
            </a:extLst>
          </p:cNvPr>
          <p:cNvSpPr/>
          <p:nvPr/>
        </p:nvSpPr>
        <p:spPr>
          <a:xfrm>
            <a:off x="-1" y="2378075"/>
            <a:ext cx="20104100" cy="8931275"/>
          </a:xfrm>
          <a:prstGeom prst="rect">
            <a:avLst/>
          </a:prstGeom>
          <a:solidFill>
            <a:srgbClr val="0050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764436" y="3861875"/>
            <a:ext cx="7763614" cy="682622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750" b="1" dirty="0">
                <a:solidFill>
                  <a:srgbClr val="13C8A3"/>
                </a:solidFill>
                <a:latin typeface="Times New Roman"/>
                <a:cs typeface="Times New Roman"/>
              </a:rPr>
              <a:t>Tai</a:t>
            </a:r>
            <a:r>
              <a:rPr sz="3750" b="1" spc="220" dirty="0">
                <a:solidFill>
                  <a:srgbClr val="13C8A3"/>
                </a:solidFill>
                <a:latin typeface="Times New Roman"/>
                <a:cs typeface="Times New Roman"/>
              </a:rPr>
              <a:t> </a:t>
            </a:r>
            <a:r>
              <a:rPr sz="3750" b="1" spc="150" dirty="0">
                <a:solidFill>
                  <a:srgbClr val="13C8A3"/>
                </a:solidFill>
                <a:latin typeface="Times New Roman"/>
                <a:cs typeface="Times New Roman"/>
              </a:rPr>
              <a:t>sao</a:t>
            </a:r>
            <a:r>
              <a:rPr sz="3750" b="1" spc="20" dirty="0">
                <a:solidFill>
                  <a:srgbClr val="13C8A3"/>
                </a:solidFill>
                <a:latin typeface="Times New Roman"/>
                <a:cs typeface="Times New Roman"/>
              </a:rPr>
              <a:t> </a:t>
            </a:r>
            <a:r>
              <a:rPr sz="3750" b="1" spc="185" dirty="0">
                <a:solidFill>
                  <a:srgbClr val="13C8A3"/>
                </a:solidFill>
                <a:latin typeface="Times New Roman"/>
                <a:cs typeface="Times New Roman"/>
              </a:rPr>
              <a:t>chon</a:t>
            </a:r>
            <a:r>
              <a:rPr sz="3750" b="1" spc="-90" dirty="0">
                <a:solidFill>
                  <a:srgbClr val="13C8A3"/>
                </a:solidFill>
                <a:latin typeface="Times New Roman"/>
                <a:cs typeface="Times New Roman"/>
              </a:rPr>
              <a:t> </a:t>
            </a:r>
            <a:r>
              <a:rPr sz="3750" b="1" spc="-10" dirty="0">
                <a:solidFill>
                  <a:srgbClr val="13C8A3"/>
                </a:solidFill>
                <a:latin typeface="Times New Roman"/>
                <a:cs typeface="Times New Roman"/>
              </a:rPr>
              <a:t>MobileNetV2</a:t>
            </a:r>
            <a:r>
              <a:rPr lang="en-US" sz="3750" b="1" spc="-10" dirty="0">
                <a:solidFill>
                  <a:srgbClr val="13C8A3"/>
                </a:solidFill>
                <a:latin typeface="Times New Roman"/>
                <a:cs typeface="Times New Roman"/>
              </a:rPr>
              <a:t> </a:t>
            </a:r>
            <a:r>
              <a:rPr sz="3750" b="1" spc="-10" dirty="0">
                <a:solidFill>
                  <a:srgbClr val="13C8A3"/>
                </a:solidFill>
                <a:latin typeface="Times New Roman"/>
                <a:cs typeface="Times New Roman"/>
              </a:rPr>
              <a:t>?</a:t>
            </a:r>
            <a:br>
              <a:rPr lang="en-US" sz="3750" b="1" spc="-10" dirty="0">
                <a:solidFill>
                  <a:srgbClr val="13C8A3"/>
                </a:solidFill>
                <a:latin typeface="Times New Roman"/>
                <a:cs typeface="Times New Roman"/>
              </a:rPr>
            </a:br>
            <a:br>
              <a:rPr lang="en-US" sz="3750" b="1" spc="-10" dirty="0">
                <a:solidFill>
                  <a:srgbClr val="13C8A3"/>
                </a:solidFill>
                <a:latin typeface="Times New Roman"/>
                <a:cs typeface="Times New Roman"/>
              </a:rPr>
            </a:b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Đây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là 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kiến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trúc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CNN “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nhe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̣”,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thiết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kê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́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riêng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cho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các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thiết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bị di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dodoonjg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va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̀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nhúng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vối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tài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nguyên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hạn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chê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́.</a:t>
            </a:r>
            <a:b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</a:b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- </a:t>
            </a:r>
            <a:r>
              <a:rPr lang="en-US" sz="3000" b="1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Depthwise</a:t>
            </a:r>
            <a:r>
              <a:rPr lang="en-US" sz="3000" b="1" spc="-10" dirty="0">
                <a:solidFill>
                  <a:schemeClr val="bg1"/>
                </a:solidFill>
                <a:latin typeface="Times New Roman"/>
                <a:cs typeface="Times New Roman"/>
              </a:rPr>
              <a:t> Separable Convolution: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Tách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phép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tích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chập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thành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2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bước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giảm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khối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lượng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tính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toán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cực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lớn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b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</a:b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- </a:t>
            </a:r>
            <a:r>
              <a:rPr lang="en-US" sz="3000" b="1" spc="-10" dirty="0">
                <a:solidFill>
                  <a:schemeClr val="bg1"/>
                </a:solidFill>
                <a:latin typeface="Times New Roman"/>
                <a:cs typeface="Times New Roman"/>
              </a:rPr>
              <a:t>Inverted Residual Block: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Mơ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̉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rộng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sô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́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kênh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ở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giữa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đê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̉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giữa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thong tin,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nén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lại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ở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hai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đầu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.</a:t>
            </a:r>
            <a:b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</a:b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- </a:t>
            </a:r>
            <a:r>
              <a:rPr lang="en-US" sz="3000" b="1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Hiệu</a:t>
            </a:r>
            <a:r>
              <a:rPr lang="en-US" sz="3000" b="1" spc="-10" dirty="0">
                <a:solidFill>
                  <a:schemeClr val="bg1"/>
                </a:solidFill>
                <a:latin typeface="Times New Roman"/>
                <a:cs typeface="Times New Roman"/>
              </a:rPr>
              <a:t> quả: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Cân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bằng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tuyệt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vời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giữa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kích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thước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mô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hình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,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tốc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đô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̣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va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̀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đô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̣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chính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xác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(~96%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trên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</a:t>
            </a:r>
            <a:r>
              <a:rPr lang="en-US" sz="3000" spc="-10" dirty="0" err="1">
                <a:solidFill>
                  <a:schemeClr val="bg1"/>
                </a:solidFill>
                <a:latin typeface="Times New Roman"/>
                <a:cs typeface="Times New Roman"/>
              </a:rPr>
              <a:t>tập</a:t>
            </a:r>
            <a:r>
              <a:rPr lang="en-US" sz="3000" spc="-10" dirty="0">
                <a:solidFill>
                  <a:schemeClr val="bg1"/>
                </a:solidFill>
                <a:latin typeface="Times New Roman"/>
                <a:cs typeface="Times New Roman"/>
              </a:rPr>
              <a:t> ImageNet)</a:t>
            </a:r>
            <a:br>
              <a:rPr lang="en-US" sz="3750" b="1" spc="-10" dirty="0">
                <a:solidFill>
                  <a:srgbClr val="13C8A3"/>
                </a:solidFill>
                <a:latin typeface="Times New Roman"/>
                <a:cs typeface="Times New Roman"/>
              </a:rPr>
            </a:br>
            <a:endParaRPr sz="3750" dirty="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62218" y="4251688"/>
            <a:ext cx="200152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908175" algn="l"/>
              </a:tabLst>
            </a:pPr>
            <a:r>
              <a:rPr sz="1800" spc="-50" dirty="0">
                <a:solidFill>
                  <a:srgbClr val="13C8A3"/>
                </a:solidFill>
                <a:latin typeface="Times New Roman"/>
                <a:cs typeface="Times New Roman"/>
              </a:rPr>
              <a:t>•</a:t>
            </a:r>
            <a:r>
              <a:rPr sz="1800" dirty="0">
                <a:solidFill>
                  <a:srgbClr val="13C8A3"/>
                </a:solidFill>
                <a:latin typeface="Times New Roman"/>
                <a:cs typeface="Times New Roman"/>
              </a:rPr>
              <a:t>	</a:t>
            </a:r>
            <a:r>
              <a:rPr sz="1800" spc="-50" dirty="0">
                <a:solidFill>
                  <a:srgbClr val="13C8A3"/>
                </a:solidFill>
                <a:latin typeface="Times New Roman"/>
                <a:cs typeface="Times New Roman"/>
              </a:rPr>
              <a:t>•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CD21A3C-B7AF-695E-7D43-5F777FC1B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650" y="3748667"/>
            <a:ext cx="8543249" cy="58206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4158072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218871"/>
              </p:ext>
            </p:extLst>
          </p:nvPr>
        </p:nvGraphicFramePr>
        <p:xfrm>
          <a:off x="1006775" y="4407650"/>
          <a:ext cx="15640049" cy="3823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24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0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marL="10160">
                        <a:lnSpc>
                          <a:spcPts val="2495"/>
                        </a:lnSpc>
                      </a:pPr>
                      <a:r>
                        <a:rPr sz="2150" b="1" spc="16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Cane</a:t>
                      </a:r>
                      <a:r>
                        <a:rPr sz="2150" b="1" spc="-15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50" b="1" spc="13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lang="en-US" sz="2150" b="1" spc="13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Chó</a:t>
                      </a:r>
                      <a:r>
                        <a:rPr sz="2150" b="1" spc="13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15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37335" algn="r">
                        <a:lnSpc>
                          <a:spcPts val="2595"/>
                        </a:lnSpc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0.98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28065" algn="r">
                        <a:lnSpc>
                          <a:spcPts val="2595"/>
                        </a:lnSpc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0.95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r">
                        <a:lnSpc>
                          <a:spcPts val="2595"/>
                        </a:lnSpc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0.96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14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150" b="1" spc="6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Ragno</a:t>
                      </a:r>
                      <a:r>
                        <a:rPr sz="2150" b="1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50" b="1" spc="34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150" b="1" spc="340" dirty="0" err="1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Nh</a:t>
                      </a:r>
                      <a:r>
                        <a:rPr lang="en-US" sz="2150" b="1" spc="180" dirty="0" err="1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ện</a:t>
                      </a:r>
                      <a:r>
                        <a:rPr sz="2150" b="1" spc="26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150" dirty="0">
                        <a:latin typeface="Arial"/>
                        <a:cs typeface="Arial"/>
                      </a:endParaRPr>
                    </a:p>
                  </a:txBody>
                  <a:tcPr marL="0" marR="0" marT="262255" marB="0"/>
                </a:tc>
                <a:tc>
                  <a:txBody>
                    <a:bodyPr/>
                    <a:lstStyle/>
                    <a:p>
                      <a:pPr marR="1537335" algn="r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0.99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36854" marB="0"/>
                </a:tc>
                <a:tc>
                  <a:txBody>
                    <a:bodyPr/>
                    <a:lstStyle/>
                    <a:p>
                      <a:pPr marR="1049655" algn="r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2350" spc="11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0.97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36854" marB="0"/>
                </a:tc>
                <a:tc>
                  <a:txBody>
                    <a:bodyPr/>
                    <a:lstStyle/>
                    <a:p>
                      <a:pPr marR="5080" algn="r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0.98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3685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000"/>
                        </a:spcBef>
                      </a:pPr>
                      <a:r>
                        <a:rPr sz="2150" b="1" spc="12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Elefante</a:t>
                      </a:r>
                      <a:r>
                        <a:rPr sz="2150" b="1" spc="-13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50" b="1" spc="9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(Voi)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254000" marB="0"/>
                </a:tc>
                <a:tc>
                  <a:txBody>
                    <a:bodyPr/>
                    <a:lstStyle/>
                    <a:p>
                      <a:pPr marR="1520825" algn="r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2350" spc="185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0.86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36854" marB="0"/>
                </a:tc>
                <a:tc>
                  <a:txBody>
                    <a:bodyPr/>
                    <a:lstStyle/>
                    <a:p>
                      <a:pPr marR="1028065" algn="r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0.99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36854" marB="0"/>
                </a:tc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2350" spc="12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0.92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3685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380"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2065"/>
                        </a:spcBef>
                      </a:pPr>
                      <a:r>
                        <a:rPr sz="2150" b="1" spc="7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Farfalla</a:t>
                      </a:r>
                      <a:r>
                        <a:rPr sz="2150" b="1" spc="-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50" b="1" spc="-1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(</a:t>
                      </a:r>
                      <a:r>
                        <a:rPr sz="2150" b="1" spc="-10" dirty="0" err="1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B</a:t>
                      </a:r>
                      <a:r>
                        <a:rPr lang="en-US" sz="2150" b="1" spc="-10" dirty="0" err="1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ướm</a:t>
                      </a:r>
                      <a:r>
                        <a:rPr sz="2150" b="1" spc="-1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)</a:t>
                      </a:r>
                      <a:endParaRPr sz="2150" dirty="0">
                        <a:latin typeface="Arial"/>
                        <a:cs typeface="Arial"/>
                      </a:endParaRPr>
                    </a:p>
                  </a:txBody>
                  <a:tcPr marL="0" marR="0" marT="262255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537335" algn="r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0.96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44475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28065" algn="r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350" spc="15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0.99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44475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ct val="100000"/>
                        </a:lnSpc>
                        <a:spcBef>
                          <a:spcPts val="1925"/>
                        </a:spcBef>
                      </a:pPr>
                      <a:r>
                        <a:rPr sz="2350" spc="110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0.97</a:t>
                      </a:r>
                      <a:endParaRPr sz="2350">
                        <a:latin typeface="Times New Roman"/>
                        <a:cs typeface="Times New Roman"/>
                      </a:endParaRPr>
                    </a:p>
                  </a:txBody>
                  <a:tcPr marL="0" marR="0" marT="244475" marB="0"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345">
                <a:tc>
                  <a:txBody>
                    <a:bodyPr/>
                    <a:lstStyle/>
                    <a:p>
                      <a:pPr marL="9525">
                        <a:lnSpc>
                          <a:spcPts val="2510"/>
                        </a:lnSpc>
                        <a:spcBef>
                          <a:spcPts val="2125"/>
                        </a:spcBef>
                      </a:pPr>
                      <a:r>
                        <a:rPr sz="2150" b="1" spc="9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Trung</a:t>
                      </a:r>
                      <a:r>
                        <a:rPr sz="2150" b="1" spc="-12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2150" b="1" spc="120" dirty="0" err="1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bình</a:t>
                      </a:r>
                      <a:r>
                        <a:rPr sz="2150" b="1" spc="-110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50" b="1" spc="15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(Weighted</a:t>
                      </a:r>
                      <a:r>
                        <a:rPr sz="2150" b="1" spc="-7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50" b="1" spc="55" dirty="0">
                          <a:solidFill>
                            <a:srgbClr val="2F3134"/>
                          </a:solidFill>
                          <a:latin typeface="Arial"/>
                          <a:cs typeface="Arial"/>
                        </a:rPr>
                        <a:t>Avg)</a:t>
                      </a:r>
                      <a:endParaRPr sz="2150" dirty="0">
                        <a:latin typeface="Arial"/>
                        <a:cs typeface="Arial"/>
                      </a:endParaRPr>
                    </a:p>
                  </a:txBody>
                  <a:tcPr marL="0" marR="0" marT="269875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524000" algn="r">
                        <a:lnSpc>
                          <a:spcPts val="2825"/>
                        </a:lnSpc>
                        <a:spcBef>
                          <a:spcPts val="1814"/>
                        </a:spcBef>
                      </a:pPr>
                      <a:r>
                        <a:rPr sz="2400" b="1" spc="155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3050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15365" algn="r">
                        <a:lnSpc>
                          <a:spcPts val="2825"/>
                        </a:lnSpc>
                        <a:spcBef>
                          <a:spcPts val="1814"/>
                        </a:spcBef>
                      </a:pPr>
                      <a:r>
                        <a:rPr sz="2400" b="1" spc="155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23050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825"/>
                        </a:lnSpc>
                        <a:spcBef>
                          <a:spcPts val="1814"/>
                        </a:spcBef>
                      </a:pPr>
                      <a:r>
                        <a:rPr sz="2400" b="1" spc="155" dirty="0">
                          <a:solidFill>
                            <a:srgbClr val="2F3134"/>
                          </a:solidFill>
                          <a:latin typeface="Times New Roman"/>
                          <a:cs typeface="Times New Roman"/>
                        </a:rPr>
                        <a:t>0.96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0504" marB="0">
                    <a:lnT w="381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08185B5-43B3-D383-C556-54502216F848}"/>
              </a:ext>
            </a:extLst>
          </p:cNvPr>
          <p:cNvSpPr txBox="1"/>
          <p:nvPr/>
        </p:nvSpPr>
        <p:spPr>
          <a:xfrm>
            <a:off x="603250" y="9236075"/>
            <a:ext cx="1805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xét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Lớp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Ragno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đạt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kết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quả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tốt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nhất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(F1=0.98).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Lớp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 có Recall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rất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(0.99)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thấp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thấy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hình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hiếm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̉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sót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đôi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bị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nhầm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lẫn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513" y="0"/>
            <a:ext cx="20099073" cy="11309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76D43F3-AC38-3BE9-826E-259FA2421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797" y="0"/>
            <a:ext cx="20130898" cy="112943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1088366" y="6673244"/>
            <a:ext cx="39687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18770" algn="l"/>
              </a:tabLst>
            </a:pPr>
            <a:r>
              <a:rPr sz="1350" spc="-50" dirty="0">
                <a:solidFill>
                  <a:srgbClr val="ACA5A5"/>
                </a:solidFill>
                <a:latin typeface="Arial"/>
                <a:cs typeface="Arial"/>
              </a:rPr>
              <a:t>"</a:t>
            </a:r>
            <a:r>
              <a:rPr sz="1350" dirty="0">
                <a:solidFill>
                  <a:srgbClr val="ACA5A5"/>
                </a:solidFill>
                <a:latin typeface="Arial"/>
                <a:cs typeface="Arial"/>
              </a:rPr>
              <a:t>	</a:t>
            </a:r>
            <a:r>
              <a:rPr sz="1400" spc="-50" dirty="0">
                <a:solidFill>
                  <a:srgbClr val="B8BCC1"/>
                </a:solidFill>
                <a:latin typeface="Arial"/>
                <a:cs typeface="Arial"/>
              </a:rPr>
              <a:t>"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500E23-FC53-F976-A2A0-CB1FC0433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530" y="1"/>
            <a:ext cx="20205629" cy="11252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418</Words>
  <Application>Microsoft Office PowerPoint</Application>
  <PresentationFormat>Custom</PresentationFormat>
  <Paragraphs>83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Architecture of Convolutional  Neural Networks</vt:lpstr>
      <vt:lpstr>PowerPoint Presentation</vt:lpstr>
      <vt:lpstr>Tai sao chon MobileNetV2 ?  Đây là  kiến trúc CNN “nhẹ”, thiết kế riêng cho các thiết bị di dodoonjg và nhúng vối tài nguyên hạn chế. - Depthwise Separable Convolution: Tách phép tích chập thành 2 bước, giảm khối lượng tính toán cực lớn. - Inverted Residual Block: Mở rộng số kênh ở giữa để giữa thong tin, nén lại ở hai đầu. - Hiệu quả: Cân bằng tuyệt vời giữa kích thước mô hình, tốc độ và độ chính xác (~96% trên tập ImageNet)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nguyenminhthuan12055@gmail.com</cp:lastModifiedBy>
  <cp:revision>1</cp:revision>
  <dcterms:created xsi:type="dcterms:W3CDTF">2026-01-09T05:06:36Z</dcterms:created>
  <dcterms:modified xsi:type="dcterms:W3CDTF">2026-01-09T05:42:09Z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LastSaved">
    <vt:filetime>2026-01-09T00:00:00Z</vt:filetime>
  </property>
</Properties>
</file>